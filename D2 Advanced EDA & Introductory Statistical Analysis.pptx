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4" r:id="rId5"/>
    <p:sldId id="283" r:id="rId6"/>
    <p:sldId id="285" r:id="rId7"/>
    <p:sldId id="260" r:id="rId8"/>
    <p:sldId id="261" r:id="rId9"/>
    <p:sldId id="286" r:id="rId10"/>
    <p:sldId id="287" r:id="rId11"/>
    <p:sldId id="259" r:id="rId12"/>
    <p:sldId id="288" r:id="rId13"/>
    <p:sldId id="262" r:id="rId14"/>
    <p:sldId id="289" r:id="rId15"/>
    <p:sldId id="290" r:id="rId16"/>
    <p:sldId id="266" r:id="rId17"/>
    <p:sldId id="264" r:id="rId18"/>
    <p:sldId id="291" r:id="rId19"/>
    <p:sldId id="292" r:id="rId20"/>
    <p:sldId id="293" r:id="rId21"/>
    <p:sldId id="263" r:id="rId22"/>
    <p:sldId id="294" r:id="rId23"/>
    <p:sldId id="295" r:id="rId24"/>
    <p:sldId id="269" r:id="rId25"/>
    <p:sldId id="296" r:id="rId26"/>
    <p:sldId id="297" r:id="rId27"/>
    <p:sldId id="298" r:id="rId28"/>
    <p:sldId id="268" r:id="rId29"/>
    <p:sldId id="267" r:id="rId30"/>
    <p:sldId id="272" r:id="rId31"/>
    <p:sldId id="271" r:id="rId32"/>
    <p:sldId id="300" r:id="rId33"/>
    <p:sldId id="301" r:id="rId34"/>
    <p:sldId id="274" r:id="rId35"/>
    <p:sldId id="299" r:id="rId36"/>
    <p:sldId id="273" r:id="rId37"/>
    <p:sldId id="302" r:id="rId38"/>
    <p:sldId id="303" r:id="rId39"/>
    <p:sldId id="304" r:id="rId40"/>
    <p:sldId id="270" r:id="rId41"/>
    <p:sldId id="305" r:id="rId42"/>
    <p:sldId id="306" r:id="rId43"/>
    <p:sldId id="307" r:id="rId44"/>
    <p:sldId id="277" r:id="rId45"/>
    <p:sldId id="308" r:id="rId46"/>
    <p:sldId id="309" r:id="rId47"/>
    <p:sldId id="278" r:id="rId48"/>
    <p:sldId id="310" r:id="rId49"/>
    <p:sldId id="311" r:id="rId50"/>
    <p:sldId id="276" r:id="rId51"/>
    <p:sldId id="312" r:id="rId52"/>
    <p:sldId id="313" r:id="rId53"/>
    <p:sldId id="314" r:id="rId54"/>
    <p:sldId id="315" r:id="rId55"/>
    <p:sldId id="316" r:id="rId56"/>
    <p:sldId id="282" r:id="rId57"/>
  </p:sldIdLst>
  <p:sldSz cx="12192000" cy="6858000"/>
  <p:notesSz cx="6858000" cy="9144000"/>
  <p:defaultTextStyle>
    <a:defPPr>
      <a:defRPr lang="en-Z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61C3-E059-9FAB-3E62-F958B83B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38477-424C-9CEC-1AE5-8CE3B0DF4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8F7FC-C493-133F-55DA-BBD66A8E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563AD-352A-F268-4EBC-56EA44C8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927BF-822D-DFBE-9EDB-76DB72F4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4342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35393-DFDC-ED24-9FCE-D90948ED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7B69-1E05-3FB8-ED39-75AC5D425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1136-BFA0-7124-7736-DF36A00B3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E1A48-DD24-EB56-92A4-F0E95ED1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5537-263C-105D-5669-7630738B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562361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EAD4-1702-5791-C5EB-D74219FB3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D6C9D-5FED-4603-7958-80FD71776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3D69-DD72-20E6-50F7-B035A7F2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B70C0-C3C6-9EF3-E406-B94B2C1D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99579-ECD5-C75E-32E2-6DE8277E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81072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EABB-DB5E-99C4-CBBA-88E27B9D2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6C0BA-B631-3D35-78C0-B10FE51A0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3FB57-F522-295D-2565-C871BF5D2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861FC-AD98-3786-0A05-15F12E146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4AFF9-2B04-9F0F-5D76-29434EF9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AFA3B-45B3-B453-556B-0D0A0EE56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04373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96E0-EE23-C5B5-9754-9B13AD70B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FCA1F-370A-233D-261A-FFF2B7CB4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43488-2C10-943E-7034-F4F62193B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E73BD-CB3F-1095-84F5-C0B486997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1806-F3EB-AB5B-227A-9E43EA6E2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F8A51D-D160-4278-7058-EEFD7B48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FA080-7FA2-582E-06CB-05CAC2C1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A2D1A-A66B-9F41-0644-71E9E578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55693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CB9F-BBA6-4DCA-45C5-163793BE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142D9-C99D-61E9-15A8-AF88B4E7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23158-D18D-EE1B-5340-A2709278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8E3FD-FAEB-D7BA-C293-72875EFF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64575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C00465-23F5-D304-813C-B7416701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E8BBA-985F-2D88-98DB-D4FECA1B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26952-BD5F-D19F-CB04-BAD35A40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84440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D3CE-A79A-0DBD-07D2-EB64FD659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C8636-4499-E994-4742-E5FCE129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C4905-B30C-CB5B-0FB6-00E17210A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33F7C-DC55-A526-361B-2EFA3474F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F0F98-2264-D2C4-15C3-473DC940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283CF-53A4-A8D9-5D45-3BFB123A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49406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5535-9C21-65AF-1B0A-F4AFA8399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FAC38-7351-EC41-A832-7F87B1463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91252-9E11-77EF-4C67-332284BAA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9B264-A22A-463F-D2BB-86CE459B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1C0D9-CCC6-A8BF-6178-FF8B6E79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826B7-C6A9-7BB1-D127-6D24CF91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88673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1497-BA4A-206D-00BA-61EBC4B2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705C4-D040-2023-CB92-5FDC21FB4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58CF1-9438-6B04-5CF8-31A1BD46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76E4E-59C4-86DB-725F-DBCB280E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9999B-B87D-88AD-99E6-4E2E775B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4010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1D35B7-209A-56E8-32C6-1C818A58E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B5329-0F5B-623A-EF18-B67DC7A42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97EBC-EA4D-F140-9DBC-E0ABF6C4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B2C00-8050-8B70-98CF-D72B4E059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510F9-D75F-309D-8434-4B44D3AA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6768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098C2-FCA0-8CD7-D277-A62ED6D4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E55CB-4F06-8450-4BBA-06746EA43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12535-C6A0-E9B6-2A2A-4AEB2924B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F410D-E327-4EC4-A6CF-8E980D32C9BE}" type="datetimeFigureOut">
              <a:rPr lang="en-ZM" smtClean="0"/>
              <a:t>07/11/2025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F7FAD-B51F-74CA-553C-5EFCAD7AF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9686B-E5E6-37E7-65CE-5FC64511C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F8A97-5F9E-493F-A943-FFE3ED4E3F8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67303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Z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76C1B-7493-86E6-528C-62BB0A6F6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en-US" sz="4400"/>
              <a:t>Data Analysis with Python</a:t>
            </a:r>
            <a:endParaRPr lang="en-ZM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87FAD-7E08-332A-7436-DDD99EC78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1136843"/>
          </a:xfrm>
        </p:spPr>
        <p:txBody>
          <a:bodyPr>
            <a:normAutofit/>
          </a:bodyPr>
          <a:lstStyle/>
          <a:p>
            <a:r>
              <a:rPr lang="en-US" sz="1800"/>
              <a:t>Advanced EDA &amp; Introductory Statistical Analysis</a:t>
            </a:r>
            <a:endParaRPr lang="en-ZM" sz="1800"/>
          </a:p>
        </p:txBody>
      </p:sp>
      <p:pic>
        <p:nvPicPr>
          <p:cNvPr id="5" name="Picture 4" descr="A black graduation cap with a globe and blue text&#10;&#10;AI-generated content may be incorrect.">
            <a:extLst>
              <a:ext uri="{FF2B5EF4-FFF2-40B4-BE49-F238E27FC236}">
                <a16:creationId xmlns:a16="http://schemas.microsoft.com/office/drawing/2014/main" id="{F9DF08F0-0803-2E9F-BA56-E4F93316B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2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74CB-2DB2-612A-B0C0-C14E36DD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Topics: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E6237-A342-6E92-B28C-CAE66DBBF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cleaning &amp; transformation</a:t>
            </a:r>
          </a:p>
          <a:p>
            <a:r>
              <a:rPr lang="en-US" dirty="0"/>
              <a:t>Relationship analysis</a:t>
            </a:r>
          </a:p>
          <a:p>
            <a:r>
              <a:rPr lang="en-US" dirty="0"/>
              <a:t>Intro to probability &amp; testing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 “Today is about </a:t>
            </a:r>
            <a:r>
              <a:rPr lang="en-US" i="1" dirty="0"/>
              <a:t>insight</a:t>
            </a:r>
            <a:r>
              <a:rPr lang="en-US" dirty="0"/>
              <a:t>, not just visualization.”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65059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9E0B-FA72-8C9D-CB49-6D9E761C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Clean Data Matters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4F86CE-B724-D8BC-2962-27B80BC10F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3"/>
            <a:ext cx="105429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 (Exploratory Data Analysis) is only as good as the quality of your data.</a:t>
            </a:r>
            <a:endParaRPr kumimoji="0" lang="en-US" altLang="en-ZM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data often contains: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(</a:t>
            </a:r>
            <a:r>
              <a:rPr lang="en-US" altLang="en-ZM" dirty="0" err="1">
                <a:latin typeface="Arial Unicode MS" panose="020B0604020202020204" pitchFamily="34" charset="-128"/>
              </a:rPr>
              <a:t>NaN</a:t>
            </a: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(extreme or unrealistic values)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Inconsistent formatting (e.g., “Male” vs “male”)</a:t>
            </a:r>
            <a:endParaRPr kumimoji="0" lang="en-US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ZM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not handled, these issues lead to misleading results and false insights.</a:t>
            </a:r>
          </a:p>
        </p:txBody>
      </p:sp>
    </p:spTree>
    <p:extLst>
      <p:ext uri="{BB962C8B-B14F-4D97-AF65-F5344CB8AC3E}">
        <p14:creationId xmlns:p14="http://schemas.microsoft.com/office/powerpoint/2010/main" val="8056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CF4D-6DB6-E1EF-4071-9F5193821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10160"/>
            <a:ext cx="10515600" cy="1325563"/>
          </a:xfrm>
        </p:spPr>
        <p:txBody>
          <a:bodyPr/>
          <a:lstStyle/>
          <a:p>
            <a:r>
              <a:rPr lang="en-US" dirty="0"/>
              <a:t>Why Clean Data Matters</a:t>
            </a:r>
            <a:endParaRPr lang="en-ZM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8D57771-4DCD-1784-88CF-81BFADFB4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973981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045236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740999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40945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083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57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70000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881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07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dirty="0"/>
                        <a:t>62000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5363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111D65-E6AD-949A-1F82-84E845FA1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249178"/>
              </p:ext>
            </p:extLst>
          </p:nvPr>
        </p:nvGraphicFramePr>
        <p:xfrm>
          <a:off x="838200" y="4529666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260431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106233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81901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451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John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50000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36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70000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932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dirty="0"/>
                        <a:t>62000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78888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B55B965-5D8D-1260-9F6F-E764EEF3BDB0}"/>
              </a:ext>
            </a:extLst>
          </p:cNvPr>
          <p:cNvSpPr txBox="1"/>
          <p:nvPr/>
        </p:nvSpPr>
        <p:spPr>
          <a:xfrm>
            <a:off x="1383323" y="4149969"/>
            <a:ext cx="1557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cleaning</a:t>
            </a:r>
            <a:endParaRPr lang="en-ZM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3AEFE1-5C9C-2601-B0F4-17D211F36E77}"/>
              </a:ext>
            </a:extLst>
          </p:cNvPr>
          <p:cNvSpPr txBox="1"/>
          <p:nvPr/>
        </p:nvSpPr>
        <p:spPr>
          <a:xfrm>
            <a:off x="1053201" y="1546088"/>
            <a:ext cx="5667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Showing a simple table comparing </a:t>
            </a:r>
            <a:r>
              <a:rPr lang="en-US" i="1" dirty="0"/>
              <a:t>raw vs cleaned</a:t>
            </a:r>
            <a:r>
              <a:rPr lang="en-US" dirty="0"/>
              <a:t> data.</a:t>
            </a:r>
            <a:endParaRPr lang="en-ZM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9387D9-1370-ED20-76AC-30227628F52F}"/>
              </a:ext>
            </a:extLst>
          </p:cNvPr>
          <p:cNvSpPr txBox="1"/>
          <p:nvPr/>
        </p:nvSpPr>
        <p:spPr>
          <a:xfrm>
            <a:off x="1418492" y="6023391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 a simple table comparing </a:t>
            </a:r>
            <a:r>
              <a:rPr lang="en-US" i="1" dirty="0"/>
              <a:t>raw vs cleaned</a:t>
            </a:r>
            <a:r>
              <a:rPr lang="en-US" dirty="0"/>
              <a:t> data.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063623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CA97-FAD7-C04B-CD0B-E541060E7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Missing &amp; Extreme Values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2930-EAFB-0ED3-FC32-0FAB2D04F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Code Snippet: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Check for missing values in each column</a:t>
            </a:r>
          </a:p>
          <a:p>
            <a:pPr marL="0" indent="0">
              <a:buNone/>
            </a:pPr>
            <a:r>
              <a:rPr lang="en-US" dirty="0" err="1"/>
              <a:t>df.isnull</a:t>
            </a:r>
            <a:r>
              <a:rPr lang="en-US" dirty="0"/>
              <a:t>().sum()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age          177</a:t>
            </a:r>
          </a:p>
          <a:p>
            <a:pPr marL="0" indent="0">
              <a:buNone/>
            </a:pPr>
            <a:r>
              <a:rPr lang="en-US" dirty="0"/>
              <a:t>fare           0</a:t>
            </a:r>
          </a:p>
          <a:p>
            <a:pPr marL="0" indent="0">
              <a:buNone/>
            </a:pPr>
            <a:r>
              <a:rPr lang="en-US" dirty="0"/>
              <a:t>cabin       687</a:t>
            </a:r>
          </a:p>
          <a:p>
            <a:pPr marL="0" indent="0">
              <a:buNone/>
            </a:pPr>
            <a:r>
              <a:rPr lang="en-US" dirty="0"/>
              <a:t>embarked       2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isnull</a:t>
            </a:r>
            <a:r>
              <a:rPr lang="en-US" dirty="0"/>
              <a:t>().sum() quickly reveals which variables need attention.</a:t>
            </a:r>
          </a:p>
          <a:p>
            <a:r>
              <a:rPr lang="en-US" dirty="0"/>
              <a:t>Missingness patterns can reveal data collection issues.</a:t>
            </a:r>
          </a:p>
          <a:p>
            <a:r>
              <a:rPr lang="en-US" dirty="0"/>
              <a:t>Columns with too many missing values may be dropped or imputed.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01354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EA37-E216-E010-F1FC-F7EC805A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8567"/>
          </a:xfrm>
        </p:spPr>
        <p:txBody>
          <a:bodyPr/>
          <a:lstStyle/>
          <a:p>
            <a:r>
              <a:rPr lang="en-US" dirty="0"/>
              <a:t>….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E04D0-BB44-F191-5B7B-B2362AA41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985"/>
            <a:ext cx="10515600" cy="4863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Visual Idea:</a:t>
            </a:r>
            <a:endParaRPr lang="en-US" dirty="0"/>
          </a:p>
          <a:p>
            <a:r>
              <a:rPr lang="en-US" dirty="0"/>
              <a:t>Bar chart showing number of missing values per column: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df.isnull</a:t>
            </a:r>
            <a:r>
              <a:rPr lang="en-US" dirty="0">
                <a:latin typeface="Abadi ExtraLight" panose="020B0204020104020204" pitchFamily="34" charset="0"/>
              </a:rPr>
              <a:t>().sum().plot(kind='bar', color='tomato')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plt.title</a:t>
            </a:r>
            <a:r>
              <a:rPr lang="en-US" dirty="0">
                <a:latin typeface="Abadi ExtraLight" panose="020B0204020104020204" pitchFamily="34" charset="0"/>
              </a:rPr>
              <a:t>("Missing Values per Feature")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plt.ylabel</a:t>
            </a:r>
            <a:r>
              <a:rPr lang="en-US" dirty="0">
                <a:latin typeface="Abadi ExtraLight" panose="020B0204020104020204" pitchFamily="34" charset="0"/>
              </a:rPr>
              <a:t>("Count")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plt.show</a:t>
            </a:r>
            <a:r>
              <a:rPr lang="en-US" dirty="0">
                <a:latin typeface="Abadi ExtraLight" panose="020B0204020104020204" pitchFamily="34" charset="0"/>
              </a:rPr>
              <a:t>()</a:t>
            </a:r>
          </a:p>
          <a:p>
            <a:endParaRPr lang="en-US" dirty="0"/>
          </a:p>
          <a:p>
            <a:r>
              <a:rPr lang="en-US" dirty="0"/>
              <a:t>“EDA is meaningless if your data is dirty — clean first, then explore.”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83680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AF0A-DABD-2FC5-3598-0364D415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Values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FBCA-EF37-3C02-A264-DE80CE3C1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Techniques:</a:t>
            </a:r>
            <a:endParaRPr lang="en-US" dirty="0"/>
          </a:p>
          <a:p>
            <a:r>
              <a:rPr lang="en-US" dirty="0"/>
              <a:t>Drop missing: </a:t>
            </a:r>
            <a:r>
              <a:rPr lang="en-US" dirty="0" err="1"/>
              <a:t>df.dropna</a:t>
            </a:r>
            <a:r>
              <a:rPr lang="en-US" dirty="0"/>
              <a:t>()</a:t>
            </a:r>
          </a:p>
          <a:p>
            <a:r>
              <a:rPr lang="en-US" dirty="0"/>
              <a:t>Fill with mean/median/mode</a:t>
            </a:r>
          </a:p>
          <a:p>
            <a:pPr marL="0" indent="0">
              <a:buNone/>
            </a:pPr>
            <a:r>
              <a:rPr lang="en-US" b="1" dirty="0"/>
              <a:t>Code: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['age'].</a:t>
            </a:r>
            <a:r>
              <a:rPr lang="en-US" dirty="0" err="1"/>
              <a:t>fillna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['age'].median(), </a:t>
            </a:r>
            <a:r>
              <a:rPr lang="en-US" dirty="0" err="1"/>
              <a:t>inplace</a:t>
            </a:r>
            <a:r>
              <a:rPr lang="en-US" dirty="0"/>
              <a:t>=True)</a:t>
            </a:r>
          </a:p>
          <a:p>
            <a:endParaRPr lang="en-US" b="1" dirty="0"/>
          </a:p>
          <a:p>
            <a:r>
              <a:rPr lang="en-US" dirty="0"/>
              <a:t>“Use domain logic when filling missing data.”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47725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EA016-86C9-06A9-4EA2-E3CB53B62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 (IQR Method)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89A97-3F33-3392-5948-43FA1DB4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ZM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3EA7E-EF68-242C-1D06-68139365F7B1}"/>
              </a:ext>
            </a:extLst>
          </p:cNvPr>
          <p:cNvSpPr txBox="1"/>
          <p:nvPr/>
        </p:nvSpPr>
        <p:spPr>
          <a:xfrm>
            <a:off x="328246" y="1825625"/>
            <a:ext cx="108555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Concept: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Outliers</a:t>
            </a:r>
            <a:r>
              <a:rPr lang="en-US" dirty="0"/>
              <a:t> are values that are unusually high or low compared to the rest of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can arise due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entry errors (e.g., extra zero)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Genuine rare events (e.g., very high income)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Measurement issues or anomalies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Key Definitions: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Q1 (25th percentile):</a:t>
            </a:r>
            <a:r>
              <a:rPr lang="en-US" dirty="0"/>
              <a:t> Value below which 25% of data 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Q3 (75th percentile):</a:t>
            </a:r>
            <a:r>
              <a:rPr lang="en-US" dirty="0"/>
              <a:t> Value below which 75% of data 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IQR (Interquartile Range):</a:t>
            </a:r>
            <a:r>
              <a:rPr lang="en-US" dirty="0"/>
              <a:t> IQR = Q3 - Q1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Outlier Rule: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Values </a:t>
            </a:r>
            <a:r>
              <a:rPr lang="en-US" b="1" dirty="0"/>
              <a:t>&lt; Q1 - 1.5×IQR</a:t>
            </a:r>
            <a:r>
              <a:rPr lang="en-US" dirty="0"/>
              <a:t> or </a:t>
            </a:r>
            <a:r>
              <a:rPr lang="en-US" b="1" dirty="0"/>
              <a:t>&gt; Q3 + 1.5×IQR</a:t>
            </a:r>
            <a:r>
              <a:rPr lang="en-US" dirty="0"/>
              <a:t> are considered outliers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719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48FD-3B7A-5731-A1BF-37AEEBCAB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Outliers and the IQR Method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37B2-F8FF-7654-FEDC-416019E4C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Lower Bound = Q1 - 1.5 × IQR</a:t>
            </a:r>
          </a:p>
          <a:p>
            <a:pPr marL="0" indent="0">
              <a:buNone/>
            </a:pPr>
            <a:r>
              <a:rPr lang="en-US" dirty="0"/>
              <a:t>Upper Bound = Q3 + 1.5 × IQR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Example (explain step by step):</a:t>
            </a:r>
          </a:p>
          <a:p>
            <a:pPr marL="0" indent="0">
              <a:buNone/>
            </a:pPr>
            <a:r>
              <a:rPr lang="en-US" dirty="0"/>
              <a:t>If Q1 = 10 and Q3 = 20 → IQR = 10</a:t>
            </a:r>
          </a:p>
          <a:p>
            <a:pPr marL="0" indent="0">
              <a:buNone/>
            </a:pPr>
            <a:r>
              <a:rPr lang="en-US" dirty="0"/>
              <a:t>→ Lower bound = 10 - 1.5×10 = -5</a:t>
            </a:r>
          </a:p>
          <a:p>
            <a:pPr marL="0" indent="0">
              <a:buNone/>
            </a:pPr>
            <a:r>
              <a:rPr lang="en-US" dirty="0"/>
              <a:t>→ Upper bound = 20 + 1.5×10 = 35</a:t>
            </a:r>
          </a:p>
          <a:p>
            <a:pPr marL="0" indent="0">
              <a:buNone/>
            </a:pPr>
            <a:r>
              <a:rPr lang="en-US" dirty="0"/>
              <a:t>→ Any value outside (-5, 35) = outlier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39779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EBA-EA23-AB61-81A6-60C47778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Outliers and the IQR Method</a:t>
            </a:r>
            <a:endParaRPr lang="en-ZM" dirty="0"/>
          </a:p>
        </p:txBody>
      </p:sp>
      <p:pic>
        <p:nvPicPr>
          <p:cNvPr id="10242" name="Picture 2" descr="Box Plot Diagram to Identify Outliers">
            <a:extLst>
              <a:ext uri="{FF2B5EF4-FFF2-40B4-BE49-F238E27FC236}">
                <a16:creationId xmlns:a16="http://schemas.microsoft.com/office/drawing/2014/main" id="{303EA4E6-DEA9-9B55-F1CE-F8DEBC8F99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857" y="2758108"/>
            <a:ext cx="6714286" cy="248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447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0364-9D2C-B0AB-BE3A-3F06A9A4E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 — Code &amp; Visualization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F6C5C-AA39-3E2D-C9E0-734202558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# Identify outliers in the 'fare' column</a:t>
            </a:r>
          </a:p>
          <a:p>
            <a:pPr marL="0" indent="0">
              <a:buNone/>
            </a:pPr>
            <a:r>
              <a:rPr lang="en-US" dirty="0"/>
              <a:t>Q1, Q3 = </a:t>
            </a:r>
            <a:r>
              <a:rPr lang="en-US" dirty="0" err="1"/>
              <a:t>df</a:t>
            </a:r>
            <a:r>
              <a:rPr lang="en-US" dirty="0"/>
              <a:t>['fare'].quantile([0.25, 0.75])</a:t>
            </a:r>
          </a:p>
          <a:p>
            <a:pPr marL="0" indent="0">
              <a:buNone/>
            </a:pPr>
            <a:r>
              <a:rPr lang="en-US" dirty="0"/>
              <a:t>IQR = Q3 - Q1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Define bounds</a:t>
            </a:r>
          </a:p>
          <a:p>
            <a:pPr marL="0" indent="0">
              <a:buNone/>
            </a:pPr>
            <a:r>
              <a:rPr lang="en-US" dirty="0" err="1"/>
              <a:t>lower_bound</a:t>
            </a:r>
            <a:r>
              <a:rPr lang="en-US" dirty="0"/>
              <a:t> = Q1 - 1.5 * IQR</a:t>
            </a:r>
          </a:p>
          <a:p>
            <a:pPr marL="0" indent="0">
              <a:buNone/>
            </a:pPr>
            <a:r>
              <a:rPr lang="en-US" dirty="0" err="1"/>
              <a:t>upper_bound</a:t>
            </a:r>
            <a:r>
              <a:rPr lang="en-US" dirty="0"/>
              <a:t> = Q3 + 1.5 * IQR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Filter outliers</a:t>
            </a:r>
          </a:p>
          <a:p>
            <a:pPr marL="0" indent="0">
              <a:buNone/>
            </a:pPr>
            <a:r>
              <a:rPr lang="en-US" dirty="0"/>
              <a:t>outliers = </a:t>
            </a:r>
            <a:r>
              <a:rPr lang="en-US" dirty="0" err="1"/>
              <a:t>df</a:t>
            </a:r>
            <a:r>
              <a:rPr lang="en-US" dirty="0"/>
              <a:t>[(</a:t>
            </a:r>
            <a:r>
              <a:rPr lang="en-US" dirty="0" err="1"/>
              <a:t>df</a:t>
            </a:r>
            <a:r>
              <a:rPr lang="en-US" dirty="0"/>
              <a:t>['fare'] &lt; </a:t>
            </a:r>
            <a:r>
              <a:rPr lang="en-US" dirty="0" err="1"/>
              <a:t>lower_bound</a:t>
            </a:r>
            <a:r>
              <a:rPr lang="en-US" dirty="0"/>
              <a:t>) | (</a:t>
            </a:r>
            <a:r>
              <a:rPr lang="en-US" dirty="0" err="1"/>
              <a:t>df</a:t>
            </a:r>
            <a:r>
              <a:rPr lang="en-US" dirty="0"/>
              <a:t>['fare'] &gt; </a:t>
            </a:r>
            <a:r>
              <a:rPr lang="en-US" dirty="0" err="1"/>
              <a:t>upper_bound</a:t>
            </a:r>
            <a:r>
              <a:rPr lang="en-US" dirty="0"/>
              <a:t>)]</a:t>
            </a:r>
          </a:p>
          <a:p>
            <a:pPr marL="0" indent="0">
              <a:buNone/>
            </a:pPr>
            <a:r>
              <a:rPr lang="en-US" dirty="0"/>
              <a:t>print("Number of outliers:", </a:t>
            </a:r>
            <a:r>
              <a:rPr lang="en-US" dirty="0" err="1"/>
              <a:t>len</a:t>
            </a:r>
            <a:r>
              <a:rPr lang="en-US" dirty="0"/>
              <a:t>(outliers))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13055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4EBD-68FB-7CB5-8125-429B0D1FC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Outliers: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CE172-9FFC-11F7-586E-014D1F21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846" y="1825625"/>
            <a:ext cx="11177954" cy="48682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plt.figure</a:t>
            </a:r>
            <a:r>
              <a:rPr lang="en-US" dirty="0">
                <a:latin typeface="Abadi ExtraLight" panose="020B0204020104020204" pitchFamily="34" charset="0"/>
              </a:rPr>
              <a:t>(</a:t>
            </a:r>
            <a:r>
              <a:rPr lang="en-US" dirty="0" err="1">
                <a:latin typeface="Abadi ExtraLight" panose="020B0204020104020204" pitchFamily="34" charset="0"/>
              </a:rPr>
              <a:t>figsize</a:t>
            </a:r>
            <a:r>
              <a:rPr lang="en-US" dirty="0">
                <a:latin typeface="Abadi ExtraLight" panose="020B0204020104020204" pitchFamily="34" charset="0"/>
              </a:rPr>
              <a:t>=(6,4))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plt.boxplot</a:t>
            </a:r>
            <a:r>
              <a:rPr lang="en-US" dirty="0">
                <a:latin typeface="Abadi ExtraLight" panose="020B0204020104020204" pitchFamily="34" charset="0"/>
              </a:rPr>
              <a:t>(</a:t>
            </a:r>
            <a:r>
              <a:rPr lang="en-US" dirty="0" err="1">
                <a:latin typeface="Abadi ExtraLight" panose="020B0204020104020204" pitchFamily="34" charset="0"/>
              </a:rPr>
              <a:t>df</a:t>
            </a:r>
            <a:r>
              <a:rPr lang="en-US" dirty="0">
                <a:latin typeface="Abadi ExtraLight" panose="020B0204020104020204" pitchFamily="34" charset="0"/>
              </a:rPr>
              <a:t>['fare'], vert=False)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plt.title</a:t>
            </a:r>
            <a:r>
              <a:rPr lang="en-US" dirty="0">
                <a:latin typeface="Abadi ExtraLight" panose="020B0204020104020204" pitchFamily="34" charset="0"/>
              </a:rPr>
              <a:t>("Fare Distribution with Outliers")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plt.xlabel</a:t>
            </a:r>
            <a:r>
              <a:rPr lang="en-US" dirty="0">
                <a:latin typeface="Abadi ExtraLight" panose="020B0204020104020204" pitchFamily="34" charset="0"/>
              </a:rPr>
              <a:t>("Fare")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plt.show</a:t>
            </a:r>
            <a:r>
              <a:rPr lang="en-US" dirty="0">
                <a:latin typeface="Abadi ExtraLight" panose="020B0204020104020204" pitchFamily="34" charset="0"/>
              </a:rPr>
              <a:t>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Boxplots are ideal for spotting outliers visually.</a:t>
            </a:r>
          </a:p>
          <a:p>
            <a:r>
              <a:rPr lang="en-US" dirty="0"/>
              <a:t>Whiskers represent limits (Q1 - 1.5×IQR and Q3 + 1.5×IQR).</a:t>
            </a:r>
          </a:p>
          <a:p>
            <a:r>
              <a:rPr lang="en-US" dirty="0"/>
              <a:t>Dots outside whiskers = potential outliers.</a:t>
            </a:r>
          </a:p>
          <a:p>
            <a:pPr marL="0" indent="0">
              <a:buNone/>
            </a:pPr>
            <a:r>
              <a:rPr lang="en-US" dirty="0"/>
              <a:t>“The IQR method helps us detect unusual values — use visualization to decide what to do next.”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47422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91006-A3AD-F4D1-FA1A-D09F64DE9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Crosstab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899DC4-60C4-34A6-48EC-CE5FEACA1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9509"/>
            <a:ext cx="5324559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85000" lnSpcReduction="20000"/>
          </a:bodyPr>
          <a:lstStyle/>
          <a:p>
            <a:r>
              <a:rPr lang="en-US" sz="2000" b="1" dirty="0"/>
              <a:t>Concept: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Crosstab</a:t>
            </a:r>
            <a:r>
              <a:rPr lang="en-US" sz="2000" dirty="0"/>
              <a:t> = Cross-tabulation → A </a:t>
            </a:r>
            <a:r>
              <a:rPr lang="en-US" sz="2000" b="1" dirty="0"/>
              <a:t>frequency table</a:t>
            </a:r>
            <a:r>
              <a:rPr lang="en-US" sz="2000" dirty="0"/>
              <a:t> showing the relationship between </a:t>
            </a:r>
            <a:r>
              <a:rPr lang="en-US" sz="2000" b="1" dirty="0"/>
              <a:t>two or more categorical variables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to </a:t>
            </a:r>
            <a:r>
              <a:rPr lang="en-US" sz="2000" b="1" dirty="0"/>
              <a:t>summarize counts or proportions</a:t>
            </a:r>
            <a:r>
              <a:rPr lang="en-US" sz="2000" dirty="0"/>
              <a:t> in a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Similar to a </a:t>
            </a:r>
            <a:r>
              <a:rPr lang="en-US" sz="2000" b="1" dirty="0"/>
              <a:t>pivot table</a:t>
            </a:r>
            <a:r>
              <a:rPr lang="en-US" sz="2000" dirty="0"/>
              <a:t> in Excel.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Purpose: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explore </a:t>
            </a:r>
            <a:r>
              <a:rPr lang="en-US" sz="2000" b="1" dirty="0"/>
              <a:t>interactions</a:t>
            </a:r>
            <a:r>
              <a:rPr lang="en-US" sz="2000" dirty="0"/>
              <a:t> between variables like gender &amp; survival, region &amp; education,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Helps detect </a:t>
            </a:r>
            <a:r>
              <a:rPr lang="en-US" sz="2000" b="1" dirty="0"/>
              <a:t>patterns and associations</a:t>
            </a:r>
            <a:r>
              <a:rPr lang="en-US" sz="2000" dirty="0"/>
              <a:t> between categories.</a:t>
            </a:r>
          </a:p>
          <a:p>
            <a:endParaRPr lang="en-US" sz="2000" dirty="0"/>
          </a:p>
          <a:p>
            <a:r>
              <a:rPr lang="en-US" sz="2000" b="1" dirty="0"/>
              <a:t>Basic Syntax:</a:t>
            </a:r>
            <a:endParaRPr lang="en-US" sz="2000" dirty="0"/>
          </a:p>
          <a:p>
            <a:r>
              <a:rPr lang="en-US" dirty="0" err="1"/>
              <a:t>pd.crosstab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['sex'], </a:t>
            </a:r>
            <a:r>
              <a:rPr lang="en-US" dirty="0" err="1"/>
              <a:t>df</a:t>
            </a:r>
            <a:r>
              <a:rPr lang="en-US" dirty="0"/>
              <a:t>['survived'])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ZM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A0B09C-F871-5ADD-754D-017450398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764573"/>
              </p:ext>
            </p:extLst>
          </p:nvPr>
        </p:nvGraphicFramePr>
        <p:xfrm>
          <a:off x="5911532" y="3174829"/>
          <a:ext cx="5150279" cy="23330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14063">
                  <a:extLst>
                    <a:ext uri="{9D8B030D-6E8A-4147-A177-3AD203B41FA5}">
                      <a16:colId xmlns:a16="http://schemas.microsoft.com/office/drawing/2014/main" val="1921464466"/>
                    </a:ext>
                  </a:extLst>
                </a:gridCol>
                <a:gridCol w="1453006">
                  <a:extLst>
                    <a:ext uri="{9D8B030D-6E8A-4147-A177-3AD203B41FA5}">
                      <a16:colId xmlns:a16="http://schemas.microsoft.com/office/drawing/2014/main" val="597536814"/>
                    </a:ext>
                  </a:extLst>
                </a:gridCol>
                <a:gridCol w="2383210">
                  <a:extLst>
                    <a:ext uri="{9D8B030D-6E8A-4147-A177-3AD203B41FA5}">
                      <a16:colId xmlns:a16="http://schemas.microsoft.com/office/drawing/2014/main" val="3084192219"/>
                    </a:ext>
                  </a:extLst>
                </a:gridCol>
              </a:tblGrid>
              <a:tr h="822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(Died)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(Survived)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020124"/>
                  </a:ext>
                </a:extLst>
              </a:tr>
              <a:tr h="75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female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81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233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634013"/>
                  </a:ext>
                </a:extLst>
              </a:tr>
              <a:tr h="75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male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468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dirty="0"/>
                        <a:t>109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0918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0F1AD8-5BFC-D01E-3BDC-10BC5215F424}"/>
              </a:ext>
            </a:extLst>
          </p:cNvPr>
          <p:cNvSpPr txBox="1"/>
          <p:nvPr/>
        </p:nvSpPr>
        <p:spPr>
          <a:xfrm>
            <a:off x="7327392" y="278006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883001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10BCF-427F-01FB-1F37-F1213E27D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Normalizing Crosstabs — Proportion Analysis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25FA30-A448-72BA-33AC-002191C14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92" y="2198362"/>
            <a:ext cx="6329524" cy="3917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ZM" sz="1700" b="1" i="0" u="none" strike="noStrike" cap="none" normalizeH="0" baseline="0" dirty="0">
                <a:ln>
                  <a:noFill/>
                </a:ln>
                <a:effectLst/>
              </a:rPr>
              <a:t>Concept:</a:t>
            </a:r>
            <a:b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Raw counts can be misleading when groups are of different sizes.</a:t>
            </a:r>
            <a:b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✅ </a:t>
            </a:r>
            <a:r>
              <a:rPr kumimoji="0" lang="en-US" altLang="en-ZM" sz="1700" b="1" i="0" u="none" strike="noStrike" cap="none" normalizeH="0" baseline="0" dirty="0">
                <a:ln>
                  <a:noFill/>
                </a:ln>
                <a:effectLst/>
              </a:rPr>
              <a:t>Normalize</a:t>
            </a: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 the crosstab to get proportions instead of absolute numbers.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ZM" sz="1700" b="1" i="0" u="none" strike="noStrike" cap="none" normalizeH="0" baseline="0" dirty="0">
                <a:ln>
                  <a:noFill/>
                </a:ln>
                <a:effectLst/>
              </a:rPr>
              <a:t>Code Example:</a:t>
            </a:r>
            <a:endParaRPr kumimoji="0" lang="en-US" altLang="en-ZM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ZM" sz="1700" b="0" i="0" u="none" strike="noStrike" cap="none" normalizeH="0" baseline="0" dirty="0" err="1">
                <a:ln>
                  <a:noFill/>
                </a:ln>
                <a:effectLst/>
              </a:rPr>
              <a:t>pd.crosstab</a:t>
            </a: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(</a:t>
            </a:r>
            <a:r>
              <a:rPr kumimoji="0" lang="en-US" altLang="en-ZM" sz="1700" b="0" i="0" u="none" strike="noStrike" cap="none" normalizeH="0" baseline="0" dirty="0" err="1">
                <a:ln>
                  <a:noFill/>
                </a:ln>
                <a:effectLst/>
              </a:rPr>
              <a:t>df</a:t>
            </a: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['sex'], </a:t>
            </a:r>
            <a:r>
              <a:rPr kumimoji="0" lang="en-US" altLang="en-ZM" sz="1700" b="0" i="0" u="none" strike="noStrike" cap="none" normalizeH="0" baseline="0" dirty="0" err="1">
                <a:ln>
                  <a:noFill/>
                </a:ln>
                <a:effectLst/>
              </a:rPr>
              <a:t>df</a:t>
            </a: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['survived'], normalize='index')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ZM" sz="1700" b="1" i="0" u="none" strike="noStrike" cap="none" normalizeH="0" baseline="0" dirty="0">
                <a:ln>
                  <a:noFill/>
                </a:ln>
                <a:effectLst/>
              </a:rPr>
              <a:t>Key Point:</a:t>
            </a:r>
            <a:endParaRPr kumimoji="0" lang="en-US" altLang="en-ZM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Each row sums to 1 (or 100%).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Easier to compare categories fairly.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ZM" sz="1700" b="0" i="0" u="none" strike="noStrike" cap="none" normalizeH="0" baseline="0" dirty="0">
                <a:ln>
                  <a:noFill/>
                </a:ln>
                <a:effectLst/>
              </a:rPr>
              <a:t>“Normalization shows proportions, not counts.”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ZM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753731-DE6C-0BB0-36E2-A0229AA5C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7386465"/>
              </p:ext>
            </p:extLst>
          </p:nvPr>
        </p:nvGraphicFramePr>
        <p:xfrm>
          <a:off x="7242048" y="2986289"/>
          <a:ext cx="4265826" cy="249125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95864">
                  <a:extLst>
                    <a:ext uri="{9D8B030D-6E8A-4147-A177-3AD203B41FA5}">
                      <a16:colId xmlns:a16="http://schemas.microsoft.com/office/drawing/2014/main" val="3074824024"/>
                    </a:ext>
                  </a:extLst>
                </a:gridCol>
                <a:gridCol w="1213639">
                  <a:extLst>
                    <a:ext uri="{9D8B030D-6E8A-4147-A177-3AD203B41FA5}">
                      <a16:colId xmlns:a16="http://schemas.microsoft.com/office/drawing/2014/main" val="3583466855"/>
                    </a:ext>
                  </a:extLst>
                </a:gridCol>
                <a:gridCol w="1756323">
                  <a:extLst>
                    <a:ext uri="{9D8B030D-6E8A-4147-A177-3AD203B41FA5}">
                      <a16:colId xmlns:a16="http://schemas.microsoft.com/office/drawing/2014/main" val="3265034785"/>
                    </a:ext>
                  </a:extLst>
                </a:gridCol>
              </a:tblGrid>
              <a:tr h="983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sex</a:t>
                      </a:r>
                    </a:p>
                  </a:txBody>
                  <a:tcPr marL="132911" marR="132911" marT="66456" marB="66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0 (Died)</a:t>
                      </a:r>
                    </a:p>
                  </a:txBody>
                  <a:tcPr marL="132911" marR="132911" marT="66456" marB="66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1 (Survived)</a:t>
                      </a:r>
                    </a:p>
                  </a:txBody>
                  <a:tcPr marL="132911" marR="132911" marT="66456" marB="66456" anchor="ctr"/>
                </a:tc>
                <a:extLst>
                  <a:ext uri="{0D108BD9-81ED-4DB2-BD59-A6C34878D82A}">
                    <a16:rowId xmlns:a16="http://schemas.microsoft.com/office/drawing/2014/main" val="2525267676"/>
                  </a:ext>
                </a:extLst>
              </a:tr>
              <a:tr h="584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female</a:t>
                      </a:r>
                    </a:p>
                  </a:txBody>
                  <a:tcPr marL="132911" marR="132911" marT="66456" marB="66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600"/>
                        <a:t>0.26</a:t>
                      </a:r>
                    </a:p>
                  </a:txBody>
                  <a:tcPr marL="132911" marR="132911" marT="66456" marB="66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600"/>
                        <a:t>0.74</a:t>
                      </a:r>
                    </a:p>
                  </a:txBody>
                  <a:tcPr marL="132911" marR="132911" marT="66456" marB="66456" anchor="ctr"/>
                </a:tc>
                <a:extLst>
                  <a:ext uri="{0D108BD9-81ED-4DB2-BD59-A6C34878D82A}">
                    <a16:rowId xmlns:a16="http://schemas.microsoft.com/office/drawing/2014/main" val="1471449600"/>
                  </a:ext>
                </a:extLst>
              </a:tr>
              <a:tr h="584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male</a:t>
                      </a:r>
                    </a:p>
                  </a:txBody>
                  <a:tcPr marL="132911" marR="132911" marT="66456" marB="66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600"/>
                        <a:t>0.81</a:t>
                      </a:r>
                    </a:p>
                  </a:txBody>
                  <a:tcPr marL="132911" marR="132911" marT="66456" marB="664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600" dirty="0"/>
                        <a:t>0.19</a:t>
                      </a:r>
                    </a:p>
                  </a:txBody>
                  <a:tcPr marL="132911" marR="132911" marT="66456" marB="66456" anchor="ctr"/>
                </a:tc>
                <a:extLst>
                  <a:ext uri="{0D108BD9-81ED-4DB2-BD59-A6C34878D82A}">
                    <a16:rowId xmlns:a16="http://schemas.microsoft.com/office/drawing/2014/main" val="88974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E5ECB73-8B16-D545-4753-C25FA0921403}"/>
              </a:ext>
            </a:extLst>
          </p:cNvPr>
          <p:cNvSpPr txBox="1"/>
          <p:nvPr/>
        </p:nvSpPr>
        <p:spPr>
          <a:xfrm>
            <a:off x="7400998" y="2254418"/>
            <a:ext cx="3947926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ZM" b="1"/>
              <a:t>Example Output (display as a table):</a:t>
            </a:r>
            <a:endParaRPr lang="en-US" altLang="en-ZM" dirty="0"/>
          </a:p>
        </p:txBody>
      </p:sp>
    </p:spTree>
    <p:extLst>
      <p:ext uri="{BB962C8B-B14F-4D97-AF65-F5344CB8AC3E}">
        <p14:creationId xmlns:p14="http://schemas.microsoft.com/office/powerpoint/2010/main" val="307991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E870-5D7B-AA57-DA5E-59A2AABC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Crosstab with Multiple Variables &amp; Visualization</a:t>
            </a:r>
            <a:endParaRPr lang="en-ZM" sz="32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CA1371-74E6-112B-F739-05084EE88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6693" y="2533476"/>
            <a:ext cx="3455821" cy="3447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M" altLang="en-ZM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Adding More Dimensions: </a:t>
            </a:r>
            <a:endParaRPr kumimoji="0" lang="en-US" altLang="en-ZM" sz="14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M" altLang="en-ZM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You can include a third variable (like passenger class) for deeper insights.</a:t>
            </a:r>
            <a:endParaRPr kumimoji="0" lang="en-US" altLang="en-ZM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ZM" altLang="en-ZM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M" altLang="en-ZM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Code Example:</a:t>
            </a:r>
            <a:endParaRPr kumimoji="0" lang="en-US" altLang="en-ZM" sz="14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ZM" altLang="en-ZM" sz="14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M" altLang="en-ZM" sz="1400" b="0" i="0" u="none" strike="noStrike" cap="none" normalizeH="0" baseline="0">
                <a:ln>
                  <a:noFill/>
                </a:ln>
                <a:effectLst/>
                <a:latin typeface="Abadi ExtraLight" panose="020B0204020104020204" pitchFamily="34" charset="0"/>
              </a:rPr>
              <a:t>pd.crosstab( [df['sex'], df['pclass']], # row categories </a:t>
            </a:r>
            <a:endParaRPr kumimoji="0" lang="en-US" altLang="en-ZM" sz="1400" b="0" i="0" u="none" strike="noStrike" cap="none" normalizeH="0" baseline="0">
              <a:ln>
                <a:noFill/>
              </a:ln>
              <a:effectLst/>
              <a:latin typeface="Abadi ExtraLight" panose="020B0204020104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ZM" sz="1400">
                <a:latin typeface="Abadi ExtraLight" panose="020B0204020104020204" pitchFamily="34" charset="0"/>
              </a:rPr>
              <a:t>	</a:t>
            </a:r>
            <a:r>
              <a:rPr kumimoji="0" lang="en-ZM" altLang="en-ZM" sz="1400" b="0" i="0" u="none" strike="noStrike" cap="none" normalizeH="0" baseline="0">
                <a:ln>
                  <a:noFill/>
                </a:ln>
                <a:effectLst/>
                <a:latin typeface="Abadi ExtraLight" panose="020B0204020104020204" pitchFamily="34" charset="0"/>
              </a:rPr>
              <a:t>df['survived’], </a:t>
            </a:r>
            <a:endParaRPr kumimoji="0" lang="en-US" altLang="en-ZM" sz="1400" b="0" i="0" u="none" strike="noStrike" cap="none" normalizeH="0" baseline="0">
              <a:ln>
                <a:noFill/>
              </a:ln>
              <a:effectLst/>
              <a:latin typeface="Abadi ExtraLight" panose="020B0204020104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ZM" sz="1400">
                <a:latin typeface="Abadi ExtraLight" panose="020B0204020104020204" pitchFamily="34" charset="0"/>
              </a:rPr>
              <a:t>	</a:t>
            </a:r>
            <a:r>
              <a:rPr kumimoji="0" lang="en-ZM" altLang="en-ZM" sz="1400" b="0" i="0" u="none" strike="noStrike" cap="none" normalizeH="0" baseline="0">
                <a:ln>
                  <a:noFill/>
                </a:ln>
                <a:effectLst/>
                <a:latin typeface="Abadi ExtraLight" panose="020B0204020104020204" pitchFamily="34" charset="0"/>
              </a:rPr>
              <a:t>normalize='index’ </a:t>
            </a:r>
            <a:endParaRPr kumimoji="0" lang="en-US" altLang="en-ZM" sz="1400" b="0" i="0" u="none" strike="noStrike" cap="none" normalizeH="0" baseline="0">
              <a:ln>
                <a:noFill/>
              </a:ln>
              <a:effectLst/>
              <a:latin typeface="Abadi ExtraLight" panose="020B0204020104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M" altLang="en-ZM" sz="1400" b="0" i="0" u="none" strike="noStrike" cap="none" normalizeH="0" baseline="0">
                <a:ln>
                  <a:noFill/>
                </a:ln>
                <a:effectLst/>
                <a:latin typeface="Abadi ExtraLight" panose="020B0204020104020204" pitchFamily="34" charset="0"/>
              </a:rPr>
              <a:t>) </a:t>
            </a:r>
            <a:endParaRPr kumimoji="0" lang="en-US" altLang="en-ZM" sz="1400" b="0" i="0" u="none" strike="noStrike" cap="none" normalizeH="0" baseline="0">
              <a:ln>
                <a:noFill/>
              </a:ln>
              <a:effectLst/>
              <a:latin typeface="Abadi ExtraLight" panose="020B0204020104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ZM" sz="140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M" altLang="en-ZM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Sample Output (display condensed):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2C27A7-5381-D268-B455-9D7E61DC9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633217"/>
              </p:ext>
            </p:extLst>
          </p:nvPr>
        </p:nvGraphicFramePr>
        <p:xfrm>
          <a:off x="4987672" y="1664416"/>
          <a:ext cx="6389348" cy="353848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20893">
                  <a:extLst>
                    <a:ext uri="{9D8B030D-6E8A-4147-A177-3AD203B41FA5}">
                      <a16:colId xmlns:a16="http://schemas.microsoft.com/office/drawing/2014/main" val="51101330"/>
                    </a:ext>
                  </a:extLst>
                </a:gridCol>
                <a:gridCol w="1669169">
                  <a:extLst>
                    <a:ext uri="{9D8B030D-6E8A-4147-A177-3AD203B41FA5}">
                      <a16:colId xmlns:a16="http://schemas.microsoft.com/office/drawing/2014/main" val="3572309940"/>
                    </a:ext>
                  </a:extLst>
                </a:gridCol>
                <a:gridCol w="1317992">
                  <a:extLst>
                    <a:ext uri="{9D8B030D-6E8A-4147-A177-3AD203B41FA5}">
                      <a16:colId xmlns:a16="http://schemas.microsoft.com/office/drawing/2014/main" val="1900583759"/>
                    </a:ext>
                  </a:extLst>
                </a:gridCol>
                <a:gridCol w="2081294">
                  <a:extLst>
                    <a:ext uri="{9D8B030D-6E8A-4147-A177-3AD203B41FA5}">
                      <a16:colId xmlns:a16="http://schemas.microsoft.com/office/drawing/2014/main" val="4241262461"/>
                    </a:ext>
                  </a:extLst>
                </a:gridCol>
              </a:tblGrid>
              <a:tr h="796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 cap="none" spc="0">
                          <a:solidFill>
                            <a:schemeClr val="tx1"/>
                          </a:solidFill>
                        </a:rPr>
                        <a:t>sex</a:t>
                      </a:r>
                    </a:p>
                  </a:txBody>
                  <a:tcPr marL="117021" marR="167172" marT="33434" marB="2507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 cap="none" spc="0">
                          <a:solidFill>
                            <a:schemeClr val="tx1"/>
                          </a:solidFill>
                        </a:rPr>
                        <a:t>pclass</a:t>
                      </a:r>
                    </a:p>
                  </a:txBody>
                  <a:tcPr marL="117021" marR="167172" marT="33434" marB="2507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 cap="none" spc="0">
                          <a:solidFill>
                            <a:schemeClr val="tx1"/>
                          </a:solidFill>
                        </a:rPr>
                        <a:t>Died</a:t>
                      </a:r>
                    </a:p>
                  </a:txBody>
                  <a:tcPr marL="117021" marR="167172" marT="33434" marB="2507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900" b="1" cap="none" spc="0">
                          <a:solidFill>
                            <a:schemeClr val="tx1"/>
                          </a:solidFill>
                        </a:rPr>
                        <a:t>Survived</a:t>
                      </a:r>
                    </a:p>
                  </a:txBody>
                  <a:tcPr marL="117021" marR="167172" marT="33434" marB="2507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021553"/>
                  </a:ext>
                </a:extLst>
              </a:tr>
              <a:tr h="685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female</a:t>
                      </a:r>
                    </a:p>
                  </a:txBody>
                  <a:tcPr marL="117021" marR="167172" marT="33434" marB="2507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0.97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070764"/>
                  </a:ext>
                </a:extLst>
              </a:tr>
              <a:tr h="685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female</a:t>
                      </a:r>
                    </a:p>
                  </a:txBody>
                  <a:tcPr marL="117021" marR="167172" marT="33434" marB="2507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0.49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0.51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635250"/>
                  </a:ext>
                </a:extLst>
              </a:tr>
              <a:tr h="685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male</a:t>
                      </a:r>
                    </a:p>
                  </a:txBody>
                  <a:tcPr marL="117021" marR="167172" marT="33434" marB="2507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0.37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0.63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031863"/>
                  </a:ext>
                </a:extLst>
              </a:tr>
              <a:tr h="685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male</a:t>
                      </a:r>
                    </a:p>
                  </a:txBody>
                  <a:tcPr marL="117021" marR="167172" marT="33434" marB="250758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0.83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200" cap="none" spc="0">
                          <a:solidFill>
                            <a:schemeClr val="tx1"/>
                          </a:solidFill>
                        </a:rPr>
                        <a:t>0.17</a:t>
                      </a:r>
                    </a:p>
                  </a:txBody>
                  <a:tcPr marL="117021" marR="167172" marT="33434" marB="2507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531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188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C4E9-1B13-6E0D-CA10-C05C1EFE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Crosstab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FEB7-F297-7E33-A06D-E8D4874BB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492"/>
            <a:ext cx="10515600" cy="4758471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heatmap</a:t>
            </a:r>
            <a:r>
              <a:rPr lang="en-US" dirty="0"/>
              <a:t> using Seaborn: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900" dirty="0" err="1">
                <a:latin typeface="Abadi ExtraLight" panose="020B0204020104020204" pitchFamily="34" charset="0"/>
              </a:rPr>
              <a:t>sns.heatmap</a:t>
            </a:r>
            <a:r>
              <a:rPr lang="en-US" sz="1900" dirty="0">
                <a:latin typeface="Abadi ExtraLight" panose="020B0204020104020204" pitchFamily="34" charset="0"/>
              </a:rPr>
              <a:t>(</a:t>
            </a:r>
            <a:r>
              <a:rPr lang="en-US" sz="1900" dirty="0" err="1">
                <a:latin typeface="Abadi ExtraLight" panose="020B0204020104020204" pitchFamily="34" charset="0"/>
              </a:rPr>
              <a:t>pd.crosstab</a:t>
            </a:r>
            <a:r>
              <a:rPr lang="en-US" sz="1900" dirty="0">
                <a:latin typeface="Abadi ExtraLight" panose="020B0204020104020204" pitchFamily="34" charset="0"/>
              </a:rPr>
              <a:t>(</a:t>
            </a:r>
            <a:r>
              <a:rPr lang="en-US" sz="1900" dirty="0" err="1">
                <a:latin typeface="Abadi ExtraLight" panose="020B0204020104020204" pitchFamily="34" charset="0"/>
              </a:rPr>
              <a:t>df</a:t>
            </a:r>
            <a:r>
              <a:rPr lang="en-US" sz="1900" dirty="0">
                <a:latin typeface="Abadi ExtraLight" panose="020B0204020104020204" pitchFamily="34" charset="0"/>
              </a:rPr>
              <a:t>['sex'], </a:t>
            </a:r>
            <a:r>
              <a:rPr lang="en-US" sz="1900" dirty="0" err="1">
                <a:latin typeface="Abadi ExtraLight" panose="020B0204020104020204" pitchFamily="34" charset="0"/>
              </a:rPr>
              <a:t>df</a:t>
            </a:r>
            <a:r>
              <a:rPr lang="en-US" sz="1900" dirty="0">
                <a:latin typeface="Abadi ExtraLight" panose="020B0204020104020204" pitchFamily="34" charset="0"/>
              </a:rPr>
              <a:t>['survived'], normalize='index'), </a:t>
            </a:r>
            <a:r>
              <a:rPr lang="en-US" sz="1900" dirty="0" err="1">
                <a:latin typeface="Abadi ExtraLight" panose="020B0204020104020204" pitchFamily="34" charset="0"/>
              </a:rPr>
              <a:t>annot</a:t>
            </a:r>
            <a:r>
              <a:rPr lang="en-US" sz="1900" dirty="0">
                <a:latin typeface="Abadi ExtraLight" panose="020B0204020104020204" pitchFamily="34" charset="0"/>
              </a:rPr>
              <a:t>=True, </a:t>
            </a:r>
            <a:r>
              <a:rPr lang="en-US" sz="1900" dirty="0" err="1">
                <a:latin typeface="Abadi ExtraLight" panose="020B0204020104020204" pitchFamily="34" charset="0"/>
              </a:rPr>
              <a:t>cmap</a:t>
            </a:r>
            <a:r>
              <a:rPr lang="en-US" sz="1900" dirty="0">
                <a:latin typeface="Abadi ExtraLight" panose="020B0204020104020204" pitchFamily="34" charset="0"/>
              </a:rPr>
              <a:t>='</a:t>
            </a:r>
            <a:r>
              <a:rPr lang="en-US" sz="1900" dirty="0" err="1">
                <a:latin typeface="Abadi ExtraLight" panose="020B0204020104020204" pitchFamily="34" charset="0"/>
              </a:rPr>
              <a:t>coolwarm</a:t>
            </a:r>
            <a:r>
              <a:rPr lang="en-US" sz="1900" dirty="0">
                <a:latin typeface="Abadi ExtraLight" panose="020B0204020104020204" pitchFamily="34" charset="0"/>
              </a:rPr>
              <a:t>')</a:t>
            </a:r>
          </a:p>
          <a:p>
            <a:pPr marL="0" indent="0">
              <a:buNone/>
            </a:pPr>
            <a:r>
              <a:rPr lang="en-US" sz="1900" dirty="0" err="1">
                <a:latin typeface="Abadi ExtraLight" panose="020B0204020104020204" pitchFamily="34" charset="0"/>
              </a:rPr>
              <a:t>plt.title</a:t>
            </a:r>
            <a:r>
              <a:rPr lang="en-US" sz="1900" dirty="0">
                <a:latin typeface="Abadi ExtraLight" panose="020B0204020104020204" pitchFamily="34" charset="0"/>
              </a:rPr>
              <a:t>("Survival Proportion by Gender")</a:t>
            </a:r>
          </a:p>
          <a:p>
            <a:pPr marL="0" indent="0">
              <a:buNone/>
            </a:pPr>
            <a:r>
              <a:rPr lang="en-US" sz="1900" dirty="0" err="1">
                <a:latin typeface="Abadi ExtraLight" panose="020B0204020104020204" pitchFamily="34" charset="0"/>
              </a:rPr>
              <a:t>plt.show</a:t>
            </a:r>
            <a:r>
              <a:rPr lang="en-US" sz="1900" dirty="0">
                <a:latin typeface="Abadi ExtraLight" panose="020B0204020104020204" pitchFamily="34" charset="0"/>
              </a:rPr>
              <a:t>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Insights:</a:t>
            </a:r>
            <a:endParaRPr lang="en-US" dirty="0"/>
          </a:p>
          <a:p>
            <a:r>
              <a:rPr lang="en-US" dirty="0"/>
              <a:t>Multi-variable crosstabs help identify combined effects (e.g., gender </a:t>
            </a:r>
            <a:r>
              <a:rPr lang="en-US" i="1" dirty="0"/>
              <a:t>and</a:t>
            </a:r>
            <a:r>
              <a:rPr lang="en-US" dirty="0"/>
              <a:t> class influence survival).</a:t>
            </a:r>
          </a:p>
          <a:p>
            <a:r>
              <a:rPr lang="en-US" dirty="0"/>
              <a:t>Visuals make proportions more intuitive to grasp.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020988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D0AD2-A87E-5901-13F0-8A9423B8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and Aggregation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8C5B9-FF5F-E929-5F1B-797862E88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628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Concept:</a:t>
            </a:r>
            <a:endParaRPr lang="en-US" sz="2000" dirty="0"/>
          </a:p>
          <a:p>
            <a:r>
              <a:rPr lang="en-US" sz="2000" dirty="0"/>
              <a:t>The </a:t>
            </a:r>
            <a:r>
              <a:rPr lang="en-US" dirty="0" err="1"/>
              <a:t>groupby</a:t>
            </a:r>
            <a:r>
              <a:rPr lang="en-US" dirty="0"/>
              <a:t>()</a:t>
            </a:r>
            <a:r>
              <a:rPr lang="en-US" sz="2000" dirty="0"/>
              <a:t> function splits data into </a:t>
            </a:r>
            <a:r>
              <a:rPr lang="en-US" sz="2000" b="1" dirty="0"/>
              <a:t>groups</a:t>
            </a:r>
            <a:r>
              <a:rPr lang="en-US" sz="2000" dirty="0"/>
              <a:t> based on a categorical variable.</a:t>
            </a:r>
          </a:p>
          <a:p>
            <a:r>
              <a:rPr lang="en-US" sz="2000" dirty="0"/>
              <a:t>The </a:t>
            </a:r>
            <a:r>
              <a:rPr lang="en-US" dirty="0" err="1"/>
              <a:t>agg</a:t>
            </a:r>
            <a:r>
              <a:rPr lang="en-US" dirty="0"/>
              <a:t>()</a:t>
            </a:r>
            <a:r>
              <a:rPr lang="en-US" sz="2000" dirty="0"/>
              <a:t> (aggregate) method allows applying </a:t>
            </a:r>
            <a:r>
              <a:rPr lang="en-US" sz="2000" b="1" dirty="0"/>
              <a:t>multiple summary functions</a:t>
            </a:r>
            <a:r>
              <a:rPr lang="en-US" sz="2000" dirty="0"/>
              <a:t> to one or more columns.</a:t>
            </a:r>
          </a:p>
          <a:p>
            <a:r>
              <a:rPr lang="en-US" sz="2000" b="1" dirty="0"/>
              <a:t>Analogy:</a:t>
            </a:r>
            <a:br>
              <a:rPr lang="en-US" sz="2000" dirty="0"/>
            </a:br>
            <a:r>
              <a:rPr lang="en-US" sz="2000" dirty="0"/>
              <a:t>Think of it as “creating a summary table” — like an Excel pivot table, but more flexible.</a:t>
            </a:r>
          </a:p>
          <a:p>
            <a:r>
              <a:rPr lang="en-US" sz="2000" b="1" dirty="0"/>
              <a:t>Basic Syntax:</a:t>
            </a:r>
            <a:endParaRPr lang="en-US" sz="2000" dirty="0"/>
          </a:p>
          <a:p>
            <a:r>
              <a:rPr lang="en-US" dirty="0" err="1"/>
              <a:t>df.groupby</a:t>
            </a:r>
            <a:r>
              <a:rPr lang="en-US" dirty="0"/>
              <a:t>('</a:t>
            </a:r>
            <a:r>
              <a:rPr lang="en-US" dirty="0" err="1"/>
              <a:t>pclass</a:t>
            </a:r>
            <a:r>
              <a:rPr lang="en-US" dirty="0"/>
              <a:t>')['age'].mean()</a:t>
            </a:r>
          </a:p>
          <a:p>
            <a:r>
              <a:rPr lang="en-US" sz="2000" dirty="0"/>
              <a:t>Groups passengers by </a:t>
            </a:r>
            <a:r>
              <a:rPr lang="en-US" dirty="0" err="1"/>
              <a:t>pclass</a:t>
            </a:r>
            <a:r>
              <a:rPr lang="en-US" sz="2000" dirty="0"/>
              <a:t> and calculates the </a:t>
            </a:r>
            <a:r>
              <a:rPr lang="en-US" sz="2000" b="1" dirty="0"/>
              <a:t>average age</a:t>
            </a:r>
            <a:r>
              <a:rPr lang="en-US" sz="2000" dirty="0"/>
              <a:t> in each class.</a:t>
            </a:r>
          </a:p>
          <a:p>
            <a:endParaRPr lang="en-ZM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7CCBB2-AFD6-D34F-3071-8C85CF5E3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932189"/>
              </p:ext>
            </p:extLst>
          </p:nvPr>
        </p:nvGraphicFramePr>
        <p:xfrm>
          <a:off x="976923" y="5186158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595583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08147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pclass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mean_age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90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38.2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792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29.9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28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dirty="0"/>
                        <a:t>25.1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9008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484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24D9-1CCB-E1D5-84CE-817EA323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Aggregating Multiple Metrics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669E5-4BA5-60BB-1D93-119C25560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324344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You can summarize </a:t>
            </a:r>
            <a:r>
              <a:rPr lang="en-US" b="1" dirty="0"/>
              <a:t>several variables simultaneously</a:t>
            </a:r>
            <a:r>
              <a:rPr lang="en-US" dirty="0"/>
              <a:t> using a dictionary mapping each column to the desired function(s).</a:t>
            </a:r>
          </a:p>
          <a:p>
            <a:r>
              <a:rPr lang="en-US" b="1" dirty="0"/>
              <a:t>Code Example: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df.groupby</a:t>
            </a:r>
            <a:r>
              <a:rPr lang="en-US" dirty="0"/>
              <a:t>('</a:t>
            </a:r>
            <a:r>
              <a:rPr lang="en-US" dirty="0" err="1"/>
              <a:t>pclass</a:t>
            </a:r>
            <a:r>
              <a:rPr lang="en-US" dirty="0"/>
              <a:t>').</a:t>
            </a:r>
            <a:r>
              <a:rPr lang="en-US" dirty="0" err="1"/>
              <a:t>agg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'age': 'mean',</a:t>
            </a:r>
          </a:p>
          <a:p>
            <a:pPr marL="0" indent="0">
              <a:buNone/>
            </a:pPr>
            <a:r>
              <a:rPr lang="en-US" dirty="0"/>
              <a:t>    'fare': 'mean',</a:t>
            </a:r>
          </a:p>
          <a:p>
            <a:pPr marL="0" indent="0">
              <a:buNone/>
            </a:pPr>
            <a:r>
              <a:rPr lang="en-US" dirty="0"/>
              <a:t>    'survived': 'mean'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endParaRPr lang="en-ZM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E70870-21F9-AFB6-03D4-06E5C462B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36422"/>
              </p:ext>
            </p:extLst>
          </p:nvPr>
        </p:nvGraphicFramePr>
        <p:xfrm>
          <a:off x="838200" y="402557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913558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496763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277811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12404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pclass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survived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726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84.15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0.63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659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0.47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919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13.68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dirty="0"/>
                        <a:t>0.24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7618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028377-6414-3458-61CA-1FABA26D6982}"/>
              </a:ext>
            </a:extLst>
          </p:cNvPr>
          <p:cNvSpPr txBox="1"/>
          <p:nvPr/>
        </p:nvSpPr>
        <p:spPr>
          <a:xfrm>
            <a:off x="838200" y="5657671"/>
            <a:ext cx="8862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Interpretation: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Age</a:t>
            </a:r>
            <a:r>
              <a:rPr lang="en-US" dirty="0"/>
              <a:t> and </a:t>
            </a:r>
            <a:r>
              <a:rPr lang="en-US" b="1" dirty="0"/>
              <a:t>Fare</a:t>
            </a:r>
            <a:r>
              <a:rPr lang="en-US" dirty="0"/>
              <a:t> decrease from 1st → 3rd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Survival rate</a:t>
            </a:r>
            <a:r>
              <a:rPr lang="en-US" dirty="0"/>
              <a:t> (mean of 0/1) also declines across classes.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15343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9BA9-CBD6-B9F2-B9D3-A8085BE16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68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Multiple Functions per Column + Visualization</a:t>
            </a:r>
            <a:br>
              <a:rPr lang="en-US" b="1" dirty="0"/>
            </a:b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402F-0972-D8A1-7BB2-BA0A1FAA2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18129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You can apply </a:t>
            </a:r>
            <a:r>
              <a:rPr lang="en-US" b="1" dirty="0"/>
              <a:t>multiple summary functions</a:t>
            </a:r>
            <a:r>
              <a:rPr lang="en-US" dirty="0"/>
              <a:t> to the same variable — e.g., mean, median, std.</a:t>
            </a:r>
          </a:p>
          <a:p>
            <a:r>
              <a:rPr lang="en-US" b="1" dirty="0"/>
              <a:t>Code Example: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df.groupby</a:t>
            </a:r>
            <a:r>
              <a:rPr lang="en-US" dirty="0"/>
              <a:t>('</a:t>
            </a:r>
            <a:r>
              <a:rPr lang="en-US" dirty="0" err="1"/>
              <a:t>pclass</a:t>
            </a:r>
            <a:r>
              <a:rPr lang="en-US" dirty="0"/>
              <a:t>').</a:t>
            </a:r>
            <a:r>
              <a:rPr lang="en-US" dirty="0" err="1"/>
              <a:t>agg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'age': ['mean', 'median'],</a:t>
            </a:r>
          </a:p>
          <a:p>
            <a:pPr marL="0" indent="0">
              <a:buNone/>
            </a:pPr>
            <a:r>
              <a:rPr lang="en-US" dirty="0"/>
              <a:t>    'fare': ['mean', 'std'],</a:t>
            </a:r>
          </a:p>
          <a:p>
            <a:pPr marL="0" indent="0">
              <a:buNone/>
            </a:pPr>
            <a:r>
              <a:rPr lang="en-US" dirty="0"/>
              <a:t>    'survived': 'mean'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endParaRPr lang="en-ZM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3FF6BB-FBFD-8D08-0ED9-7E450B3DE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232888"/>
              </p:ext>
            </p:extLst>
          </p:nvPr>
        </p:nvGraphicFramePr>
        <p:xfrm>
          <a:off x="625231" y="4627441"/>
          <a:ext cx="9292494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749">
                  <a:extLst>
                    <a:ext uri="{9D8B030D-6E8A-4147-A177-3AD203B41FA5}">
                      <a16:colId xmlns:a16="http://schemas.microsoft.com/office/drawing/2014/main" val="2276137666"/>
                    </a:ext>
                  </a:extLst>
                </a:gridCol>
                <a:gridCol w="1548749">
                  <a:extLst>
                    <a:ext uri="{9D8B030D-6E8A-4147-A177-3AD203B41FA5}">
                      <a16:colId xmlns:a16="http://schemas.microsoft.com/office/drawing/2014/main" val="1182791696"/>
                    </a:ext>
                  </a:extLst>
                </a:gridCol>
                <a:gridCol w="1548749">
                  <a:extLst>
                    <a:ext uri="{9D8B030D-6E8A-4147-A177-3AD203B41FA5}">
                      <a16:colId xmlns:a16="http://schemas.microsoft.com/office/drawing/2014/main" val="2986685560"/>
                    </a:ext>
                  </a:extLst>
                </a:gridCol>
                <a:gridCol w="1548749">
                  <a:extLst>
                    <a:ext uri="{9D8B030D-6E8A-4147-A177-3AD203B41FA5}">
                      <a16:colId xmlns:a16="http://schemas.microsoft.com/office/drawing/2014/main" val="3180692417"/>
                    </a:ext>
                  </a:extLst>
                </a:gridCol>
                <a:gridCol w="1548749">
                  <a:extLst>
                    <a:ext uri="{9D8B030D-6E8A-4147-A177-3AD203B41FA5}">
                      <a16:colId xmlns:a16="http://schemas.microsoft.com/office/drawing/2014/main" val="897983099"/>
                    </a:ext>
                  </a:extLst>
                </a:gridCol>
                <a:gridCol w="1548749">
                  <a:extLst>
                    <a:ext uri="{9D8B030D-6E8A-4147-A177-3AD203B41FA5}">
                      <a16:colId xmlns:a16="http://schemas.microsoft.com/office/drawing/2014/main" val="16777963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pclass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age_mean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age_median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fare_mean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fare_std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survived_mean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970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84.15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78.0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0.63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262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13.5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0.47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997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24.0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13.68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11.3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dirty="0"/>
                        <a:t>0.24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57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224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CE00-3208-5E72-14E5-27149B084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dirty="0"/>
              <a:t>…….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BC867B-2E16-299C-5F59-B7964C4234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08635"/>
            <a:ext cx="941527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Idea: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df.groupby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('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pclass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')['survived'].mean().plot(kind='bar', title='Survival Rate by Passenger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Class’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plt.ylabel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('Survival Rate’)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plt.show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ZM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Takeaway: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Grouping and aggregation reveal patterns and differences across categories, forming the backbone of exploratory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4033732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CB83-E163-2F04-D0BD-3578934CF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Analyzing Categorical Distributions</a:t>
            </a:r>
            <a:br>
              <a:rPr lang="en-US" b="1" dirty="0"/>
            </a:b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B13EC-A2CE-F575-2CF2-142E25BA7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763"/>
            <a:ext cx="10515600" cy="343803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What Are Categorical Distributions?</a:t>
            </a:r>
          </a:p>
          <a:p>
            <a:pPr marL="0" indent="0">
              <a:buNone/>
            </a:pPr>
            <a:r>
              <a:rPr lang="en-US" b="1" dirty="0"/>
              <a:t>Concept:</a:t>
            </a:r>
            <a:endParaRPr lang="en-US" dirty="0"/>
          </a:p>
          <a:p>
            <a:r>
              <a:rPr lang="en-US" dirty="0"/>
              <a:t>Categorical variables represent </a:t>
            </a:r>
            <a:r>
              <a:rPr lang="en-US" b="1" dirty="0"/>
              <a:t>groups or labels</a:t>
            </a:r>
            <a:r>
              <a:rPr lang="en-US" dirty="0"/>
              <a:t> (e.g., gender, region, class).</a:t>
            </a:r>
          </a:p>
          <a:p>
            <a:r>
              <a:rPr lang="en-US" dirty="0"/>
              <a:t>Understanding how data is distributed across these categories helps uncover </a:t>
            </a:r>
            <a:r>
              <a:rPr lang="en-US" b="1" dirty="0"/>
              <a:t>patterns or imbalances</a:t>
            </a:r>
            <a:r>
              <a:rPr lang="en-US" dirty="0"/>
              <a:t>.</a:t>
            </a:r>
          </a:p>
          <a:p>
            <a:r>
              <a:rPr lang="en-US" dirty="0"/>
              <a:t>Useful for identifying:</a:t>
            </a:r>
            <a:br>
              <a:rPr lang="en-US" dirty="0"/>
            </a:br>
            <a:r>
              <a:rPr lang="en-ZM" dirty="0"/>
              <a:t>✅ </a:t>
            </a:r>
            <a:r>
              <a:rPr lang="en-US" dirty="0"/>
              <a:t>Which categories dominate your dataset</a:t>
            </a:r>
            <a:br>
              <a:rPr lang="en-US" dirty="0"/>
            </a:br>
            <a:r>
              <a:rPr lang="en-ZM" dirty="0"/>
              <a:t>✅ </a:t>
            </a:r>
            <a:r>
              <a:rPr lang="en-US" dirty="0"/>
              <a:t>Whether missing or rare categories exist</a:t>
            </a:r>
            <a:br>
              <a:rPr lang="en-US" dirty="0"/>
            </a:br>
            <a:r>
              <a:rPr lang="en-ZM" dirty="0"/>
              <a:t>✅ </a:t>
            </a:r>
            <a:r>
              <a:rPr lang="en-US" dirty="0"/>
              <a:t>How categories relate to outcomes (like survival)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['embarked'].</a:t>
            </a:r>
            <a:r>
              <a:rPr lang="en-US" dirty="0" err="1"/>
              <a:t>value_counts</a:t>
            </a:r>
            <a:r>
              <a:rPr lang="en-US" dirty="0"/>
              <a:t>()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3DF3A4-9E2C-34B5-3BCA-63FB36FA1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381984"/>
              </p:ext>
            </p:extLst>
          </p:nvPr>
        </p:nvGraphicFramePr>
        <p:xfrm>
          <a:off x="978877" y="526366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97961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61439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Embarked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277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644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17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/>
                        <a:t>168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24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dirty="0"/>
                        <a:t>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60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464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70E9-F903-A6A5-A5A5-72ACDDEA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Categorical Counts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8159C-CE7B-FA9C-022C-6134CA80E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324"/>
            <a:ext cx="10515600" cy="529883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Using Seaborn’s </a:t>
            </a:r>
            <a:r>
              <a:rPr lang="en-US" b="1" dirty="0" err="1"/>
              <a:t>countplot</a:t>
            </a:r>
            <a:r>
              <a:rPr lang="en-US" b="1" dirty="0"/>
              <a:t>() for Category Analysis</a:t>
            </a:r>
          </a:p>
          <a:p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count plot</a:t>
            </a:r>
            <a:r>
              <a:rPr lang="en-US" dirty="0"/>
              <a:t> shows how often each category occurs — optionally broken down by another variable.</a:t>
            </a:r>
          </a:p>
          <a:p>
            <a:r>
              <a:rPr lang="en-US" b="1" dirty="0"/>
              <a:t>Code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sns.countplot</a:t>
            </a:r>
            <a:r>
              <a:rPr lang="en-US" dirty="0"/>
              <a:t>(x='embarked', data=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('Passenger Count by Embarkation Port')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('Embarkation Port')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('Number of Passengers')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Visual Description:</a:t>
            </a:r>
            <a:br>
              <a:rPr lang="en-US" dirty="0"/>
            </a:br>
            <a:r>
              <a:rPr lang="en-ZM" dirty="0"/>
              <a:t>🟧 </a:t>
            </a:r>
            <a:r>
              <a:rPr lang="en-US" dirty="0"/>
              <a:t>Bar chart showing counts for </a:t>
            </a:r>
            <a:r>
              <a:rPr lang="en-US" b="1" dirty="0"/>
              <a:t>S</a:t>
            </a:r>
            <a:r>
              <a:rPr lang="en-US" dirty="0"/>
              <a:t>, </a:t>
            </a:r>
            <a:r>
              <a:rPr lang="en-US" b="1" dirty="0"/>
              <a:t>C</a:t>
            </a:r>
            <a:r>
              <a:rPr lang="en-US" dirty="0"/>
              <a:t>, and </a:t>
            </a:r>
            <a:r>
              <a:rPr lang="en-US" b="1" dirty="0"/>
              <a:t>Q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Takeaway:</a:t>
            </a:r>
            <a:endParaRPr lang="en-US" dirty="0"/>
          </a:p>
          <a:p>
            <a:r>
              <a:rPr lang="en-US" dirty="0"/>
              <a:t>The majority embarked from </a:t>
            </a:r>
            <a:r>
              <a:rPr lang="en-US" b="1" dirty="0"/>
              <a:t>S</a:t>
            </a:r>
            <a:r>
              <a:rPr lang="en-US" dirty="0"/>
              <a:t>.</a:t>
            </a:r>
          </a:p>
          <a:p>
            <a:r>
              <a:rPr lang="en-US" dirty="0"/>
              <a:t>Visual imbalance alerts you to potential </a:t>
            </a:r>
            <a:r>
              <a:rPr lang="en-US" b="1" dirty="0"/>
              <a:t>sampling bias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Try adding hue='sex' to show gender differences:</a:t>
            </a:r>
          </a:p>
          <a:p>
            <a:r>
              <a:rPr lang="en-US" dirty="0" err="1"/>
              <a:t>sns.countplot</a:t>
            </a:r>
            <a:r>
              <a:rPr lang="en-US" dirty="0"/>
              <a:t>(x='embarked', hue='sex', data=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145006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120E-4374-FEC7-939E-D8C5F920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Categories by Outcome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024115-12E8-646B-3109-023004C725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0640"/>
            <a:ext cx="930554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Comparing Categorical Variables vs. Survival Concept: Add a hue parameter to explore relationships between categories and a target variable.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sns.countplot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(x='embarked', hue='survived', data=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df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plt.title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('Survival by Embarkation Port’)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plt.xlabel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('Embarkation Port’)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plt.ylabel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('Passenger Count’)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plt.legend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(title='Survived', labels=['No', 'Yes’])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plt.show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ZM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Passengers from C had the highest survival proportion.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Those from S had the lowest — suggesting possible link to class distribution.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Learning: </a:t>
            </a:r>
            <a:endParaRPr kumimoji="0" lang="en-US" altLang="en-ZM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 visualizations help us spot trends quickly before statistical testing.</a:t>
            </a:r>
          </a:p>
        </p:txBody>
      </p:sp>
    </p:spTree>
    <p:extLst>
      <p:ext uri="{BB962C8B-B14F-4D97-AF65-F5344CB8AC3E}">
        <p14:creationId xmlns:p14="http://schemas.microsoft.com/office/powerpoint/2010/main" val="2969662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6F16A-69B4-0340-34D8-6A65DB00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Comparing Two Numerical Variables</a:t>
            </a:r>
            <a:endParaRPr lang="en-ZM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BF41A-02CE-3D89-996E-0FF93D5B9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600" b="1"/>
              <a:t>Why Compare Two Numeric Variables?</a:t>
            </a:r>
          </a:p>
          <a:p>
            <a:r>
              <a:rPr lang="en-US" sz="1600" b="1"/>
              <a:t>Concept:</a:t>
            </a:r>
            <a:endParaRPr lang="en-US" sz="1600"/>
          </a:p>
          <a:p>
            <a:r>
              <a:rPr lang="en-US" sz="1600"/>
              <a:t>Many datasets have numeric features that may </a:t>
            </a:r>
            <a:r>
              <a:rPr lang="en-US" sz="1600" b="1"/>
              <a:t>influence each other</a:t>
            </a:r>
            <a:r>
              <a:rPr lang="en-US" sz="1600"/>
              <a:t>.</a:t>
            </a:r>
            <a:br>
              <a:rPr lang="en-US" sz="1600"/>
            </a:br>
            <a:r>
              <a:rPr lang="en-US" sz="1600"/>
              <a:t>Examples:</a:t>
            </a:r>
          </a:p>
          <a:p>
            <a:pPr lvl="1"/>
            <a:r>
              <a:rPr lang="en-US" sz="1600"/>
              <a:t>Age vs. Fare</a:t>
            </a:r>
          </a:p>
          <a:p>
            <a:pPr lvl="1"/>
            <a:r>
              <a:rPr lang="en-US" sz="1600"/>
              <a:t>Income vs. Education years</a:t>
            </a:r>
          </a:p>
          <a:p>
            <a:pPr lvl="1"/>
            <a:r>
              <a:rPr lang="en-US" sz="1600"/>
              <a:t>Height vs. Weight</a:t>
            </a:r>
          </a:p>
          <a:p>
            <a:r>
              <a:rPr lang="en-US" sz="1600"/>
              <a:t>Comparing them helps identify </a:t>
            </a:r>
            <a:r>
              <a:rPr lang="en-US" sz="1600" b="1"/>
              <a:t>linear trends, clusters, or outliers</a:t>
            </a:r>
            <a:r>
              <a:rPr lang="en-US" sz="1600"/>
              <a:t>.</a:t>
            </a:r>
          </a:p>
          <a:p>
            <a:r>
              <a:rPr lang="en-US" sz="1600" b="1"/>
              <a:t>Example (Titanic dataset):</a:t>
            </a:r>
            <a:endParaRPr lang="en-US" sz="1600"/>
          </a:p>
          <a:p>
            <a:r>
              <a:rPr lang="en-US" sz="1600"/>
              <a:t>df[['age', 'fare']].head()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B55936-7DB0-A462-752A-44C3F3F0C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394425"/>
              </p:ext>
            </p:extLst>
          </p:nvPr>
        </p:nvGraphicFramePr>
        <p:xfrm>
          <a:off x="6022207" y="2484255"/>
          <a:ext cx="4928929" cy="3714246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2207763">
                  <a:extLst>
                    <a:ext uri="{9D8B030D-6E8A-4147-A177-3AD203B41FA5}">
                      <a16:colId xmlns:a16="http://schemas.microsoft.com/office/drawing/2014/main" val="1495996170"/>
                    </a:ext>
                  </a:extLst>
                </a:gridCol>
                <a:gridCol w="2721166">
                  <a:extLst>
                    <a:ext uri="{9D8B030D-6E8A-4147-A177-3AD203B41FA5}">
                      <a16:colId xmlns:a16="http://schemas.microsoft.com/office/drawing/2014/main" val="2938011457"/>
                    </a:ext>
                  </a:extLst>
                </a:gridCol>
              </a:tblGrid>
              <a:tr h="619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 marL="170018" marR="130783" marT="130783" marB="130783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cap="none" spc="0">
                          <a:solidFill>
                            <a:schemeClr val="bg1"/>
                          </a:solidFill>
                        </a:rPr>
                        <a:t>fare</a:t>
                      </a:r>
                    </a:p>
                  </a:txBody>
                  <a:tcPr marL="170018" marR="130783" marT="130783" marB="13078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28873"/>
                  </a:ext>
                </a:extLst>
              </a:tr>
              <a:tr h="619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170018" marR="130783" marT="130783" marB="13078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170018" marR="130783" marT="130783" marB="13078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668252"/>
                  </a:ext>
                </a:extLst>
              </a:tr>
              <a:tr h="619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marL="170018" marR="130783" marT="130783" marB="13078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71.28</a:t>
                      </a:r>
                    </a:p>
                  </a:txBody>
                  <a:tcPr marL="170018" marR="130783" marT="130783" marB="130783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68211"/>
                  </a:ext>
                </a:extLst>
              </a:tr>
              <a:tr h="619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 marL="170018" marR="130783" marT="130783" marB="13078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7.92</a:t>
                      </a:r>
                    </a:p>
                  </a:txBody>
                  <a:tcPr marL="170018" marR="130783" marT="130783" marB="13078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590605"/>
                  </a:ext>
                </a:extLst>
              </a:tr>
              <a:tr h="619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170018" marR="130783" marT="130783" marB="130783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53.10</a:t>
                      </a:r>
                    </a:p>
                  </a:txBody>
                  <a:tcPr marL="170018" marR="130783" marT="130783" marB="130783" anchor="ctr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298581"/>
                  </a:ext>
                </a:extLst>
              </a:tr>
              <a:tr h="619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170018" marR="130783" marT="130783" marB="130783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000" cap="none" spc="0">
                          <a:solidFill>
                            <a:schemeClr val="tx1"/>
                          </a:solidFill>
                        </a:rPr>
                        <a:t>8.05</a:t>
                      </a:r>
                    </a:p>
                  </a:txBody>
                  <a:tcPr marL="170018" marR="130783" marT="130783" marB="130783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658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834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6EA2BF0-EFDA-6944-815D-9E6E6308E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86020" y="253636"/>
            <a:ext cx="106199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Visualizing Relationships — Scatter Plot with Regression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D99B9B-DEC3-ED87-8E54-F6C0B5D94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6021" y="948690"/>
            <a:ext cx="10619958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Seaborn’s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lmplot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— Linear Relationship Visualization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ZM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scatter plot shows each observation as a point.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regression line shows the line of best fit — visualizing overall trend.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Example:</a:t>
            </a:r>
            <a:endParaRPr kumimoji="0" lang="en-US" altLang="en-ZM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import seaborn as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sns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sns.lmplot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(x='age', y='fare', data=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df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plt.title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('Age vs Fare — Regression Line’)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plt.xlabel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('Age’)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plt.ylabel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('Fare’)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plt.show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()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ZM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Description: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Dots represent individual passengers.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blue line represents the estimated linear trend (fit).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Shaded area = confidence interval around the regression line.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Learning: </a:t>
            </a:r>
            <a:endParaRPr kumimoji="0" lang="en-US" altLang="en-ZM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before formal regression, EDA allows you to see the pattern</a:t>
            </a:r>
          </a:p>
        </p:txBody>
      </p:sp>
    </p:spTree>
    <p:extLst>
      <p:ext uri="{BB962C8B-B14F-4D97-AF65-F5344CB8AC3E}">
        <p14:creationId xmlns:p14="http://schemas.microsoft.com/office/powerpoint/2010/main" val="584763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4609-5750-E482-611D-5AA17E84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Relationship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C5896-ECF9-A1A4-CAC6-321A45C2F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323"/>
            <a:ext cx="10515600" cy="510955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What Does the Regression Line Tell Us?</a:t>
            </a:r>
          </a:p>
          <a:p>
            <a:pPr marL="0" indent="0">
              <a:buNone/>
            </a:pPr>
            <a:r>
              <a:rPr lang="en-US" b="1" dirty="0"/>
              <a:t>Concept:</a:t>
            </a:r>
            <a:endParaRPr lang="en-US" dirty="0"/>
          </a:p>
          <a:p>
            <a:r>
              <a:rPr lang="en-US" b="1" dirty="0"/>
              <a:t>Positive slope:</a:t>
            </a:r>
            <a:r>
              <a:rPr lang="en-US" dirty="0"/>
              <a:t> as one variable increases, the other tends to increase.</a:t>
            </a:r>
          </a:p>
          <a:p>
            <a:r>
              <a:rPr lang="en-US" b="1" dirty="0"/>
              <a:t>Negative slope:</a:t>
            </a:r>
            <a:r>
              <a:rPr lang="en-US" dirty="0"/>
              <a:t> one increases, the other decreases.</a:t>
            </a:r>
          </a:p>
          <a:p>
            <a:r>
              <a:rPr lang="en-US" b="1" dirty="0"/>
              <a:t>Flat line:</a:t>
            </a:r>
            <a:r>
              <a:rPr lang="en-US" dirty="0"/>
              <a:t> no clear relationship.</a:t>
            </a:r>
          </a:p>
          <a:p>
            <a:pPr marL="0" indent="0">
              <a:buNone/>
            </a:pPr>
            <a:r>
              <a:rPr lang="en-US" b="1" dirty="0"/>
              <a:t>Advanced Exploration:</a:t>
            </a:r>
            <a:br>
              <a:rPr lang="en-US" dirty="0"/>
            </a:br>
            <a:r>
              <a:rPr lang="en-US" dirty="0"/>
              <a:t>You can segment by category to add context: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sns.lmplot</a:t>
            </a:r>
            <a:r>
              <a:rPr lang="en-US" dirty="0">
                <a:latin typeface="Abadi ExtraLight" panose="020B0204020104020204" pitchFamily="34" charset="0"/>
              </a:rPr>
              <a:t>(x='age', y='fare', hue='sex', data=</a:t>
            </a:r>
            <a:r>
              <a:rPr lang="en-US" dirty="0" err="1">
                <a:latin typeface="Abadi ExtraLight" panose="020B0204020104020204" pitchFamily="34" charset="0"/>
              </a:rPr>
              <a:t>df</a:t>
            </a:r>
            <a:r>
              <a:rPr lang="en-US" dirty="0">
                <a:latin typeface="Abadi ExtraLight" panose="020B0204020104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plt.title</a:t>
            </a:r>
            <a:r>
              <a:rPr lang="en-US" dirty="0">
                <a:latin typeface="Abadi ExtraLight" panose="020B0204020104020204" pitchFamily="34" charset="0"/>
              </a:rPr>
              <a:t>('Age vs Fare by Gender')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plt.show</a:t>
            </a:r>
            <a:r>
              <a:rPr lang="en-US" dirty="0">
                <a:latin typeface="Abadi ExtraLight" panose="020B0204020104020204" pitchFamily="34" charset="0"/>
              </a:rPr>
              <a:t>()</a:t>
            </a:r>
          </a:p>
          <a:p>
            <a:pPr marL="0" indent="0">
              <a:buNone/>
            </a:pPr>
            <a:endParaRPr lang="en-US" dirty="0"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en-US" b="1" dirty="0"/>
              <a:t>Interpretation Example:</a:t>
            </a:r>
            <a:endParaRPr lang="en-US" dirty="0"/>
          </a:p>
          <a:p>
            <a:r>
              <a:rPr lang="en-US" dirty="0"/>
              <a:t>Males and females may show different fare–age relationships.</a:t>
            </a:r>
          </a:p>
          <a:p>
            <a:r>
              <a:rPr lang="en-US" dirty="0"/>
              <a:t>Suggests an interaction between </a:t>
            </a:r>
            <a:r>
              <a:rPr lang="en-US" b="1" dirty="0"/>
              <a:t>categorical and numerical variables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Takeaway:</a:t>
            </a:r>
            <a:br>
              <a:rPr lang="en-US" dirty="0"/>
            </a:br>
            <a:r>
              <a:rPr lang="en-US" dirty="0"/>
              <a:t>EDA reveals </a:t>
            </a:r>
            <a:r>
              <a:rPr lang="en-US" b="1" dirty="0"/>
              <a:t>real-world patterns</a:t>
            </a:r>
            <a:r>
              <a:rPr lang="en-US" dirty="0"/>
              <a:t> — guiding what to test statistically later.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034206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5C1E7-BAA2-C76A-D3ED-302426FA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END of CHApter 1</a:t>
            </a:r>
            <a:endParaRPr lang="en-ZM" sz="2200"/>
          </a:p>
        </p:txBody>
      </p:sp>
    </p:spTree>
    <p:extLst>
      <p:ext uri="{BB962C8B-B14F-4D97-AF65-F5344CB8AC3E}">
        <p14:creationId xmlns:p14="http://schemas.microsoft.com/office/powerpoint/2010/main" val="4189085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ACED-7249-2064-C78C-713C30FD8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7487019" cy="11361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Covariance vs Correlation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895FD-3E29-39EE-1116-94CA72B4C8BE}"/>
              </a:ext>
            </a:extLst>
          </p:cNvPr>
          <p:cNvSpPr txBox="1"/>
          <p:nvPr/>
        </p:nvSpPr>
        <p:spPr>
          <a:xfrm>
            <a:off x="876693" y="3615596"/>
            <a:ext cx="3455821" cy="2365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df</a:t>
            </a:r>
            <a:r>
              <a:rPr lang="en-US" sz="2000" dirty="0"/>
              <a:t>[['</a:t>
            </a:r>
            <a:r>
              <a:rPr lang="en-US" sz="2000" dirty="0" err="1"/>
              <a:t>age','fare</a:t>
            </a:r>
            <a:r>
              <a:rPr lang="en-US" sz="2000" dirty="0"/>
              <a:t>']].</a:t>
            </a:r>
            <a:r>
              <a:rPr lang="en-US" sz="2000" dirty="0" err="1"/>
              <a:t>cov</a:t>
            </a:r>
            <a:r>
              <a:rPr lang="en-US" sz="2000" dirty="0"/>
              <a:t>()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df</a:t>
            </a:r>
            <a:r>
              <a:rPr lang="en-US" sz="2000" dirty="0"/>
              <a:t>[['</a:t>
            </a:r>
            <a:r>
              <a:rPr lang="en-US" sz="2000" dirty="0" err="1"/>
              <a:t>age','fare</a:t>
            </a:r>
            <a:r>
              <a:rPr lang="en-US" sz="2000" dirty="0"/>
              <a:t>']].</a:t>
            </a:r>
            <a:r>
              <a:rPr lang="en-US" sz="2000" dirty="0" err="1"/>
              <a:t>corr</a:t>
            </a:r>
            <a:r>
              <a:rPr lang="en-US" sz="2000" dirty="0"/>
              <a:t>()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332DE1-A721-36F5-5455-0D23081373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1820930"/>
              </p:ext>
            </p:extLst>
          </p:nvPr>
        </p:nvGraphicFramePr>
        <p:xfrm>
          <a:off x="5005902" y="2827065"/>
          <a:ext cx="6389348" cy="2365711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1916973">
                  <a:extLst>
                    <a:ext uri="{9D8B030D-6E8A-4147-A177-3AD203B41FA5}">
                      <a16:colId xmlns:a16="http://schemas.microsoft.com/office/drawing/2014/main" val="185653649"/>
                    </a:ext>
                  </a:extLst>
                </a:gridCol>
                <a:gridCol w="3012486">
                  <a:extLst>
                    <a:ext uri="{9D8B030D-6E8A-4147-A177-3AD203B41FA5}">
                      <a16:colId xmlns:a16="http://schemas.microsoft.com/office/drawing/2014/main" val="3034602233"/>
                    </a:ext>
                  </a:extLst>
                </a:gridCol>
                <a:gridCol w="1459889">
                  <a:extLst>
                    <a:ext uri="{9D8B030D-6E8A-4147-A177-3AD203B41FA5}">
                      <a16:colId xmlns:a16="http://schemas.microsoft.com/office/drawing/2014/main" val="1400202816"/>
                    </a:ext>
                  </a:extLst>
                </a:gridCol>
              </a:tblGrid>
              <a:tr h="67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Concept</a:t>
                      </a:r>
                    </a:p>
                  </a:txBody>
                  <a:tcPr marL="186014" marR="143087" marT="143087" marB="1430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marL="186014" marR="143087" marT="143087" marB="1430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cap="none" spc="0">
                          <a:solidFill>
                            <a:schemeClr val="bg1"/>
                          </a:solidFill>
                        </a:rPr>
                        <a:t>Range</a:t>
                      </a:r>
                    </a:p>
                  </a:txBody>
                  <a:tcPr marL="186014" marR="143087" marT="143087" marB="1430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464683"/>
                  </a:ext>
                </a:extLst>
              </a:tr>
              <a:tr h="1011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Covariance</a:t>
                      </a:r>
                    </a:p>
                  </a:txBody>
                  <a:tcPr marL="186014" marR="143087" marT="143087" marB="14308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How variables move together</a:t>
                      </a:r>
                    </a:p>
                  </a:txBody>
                  <a:tcPr marL="186014" marR="143087" marT="143087" marB="1430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Any number</a:t>
                      </a:r>
                    </a:p>
                  </a:txBody>
                  <a:tcPr marL="186014" marR="143087" marT="143087" marB="1430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664831"/>
                  </a:ext>
                </a:extLst>
              </a:tr>
              <a:tr h="677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Correlation</a:t>
                      </a:r>
                    </a:p>
                  </a:txBody>
                  <a:tcPr marL="186014" marR="143087" marT="143087" marB="1430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Scaled covariance</a:t>
                      </a:r>
                    </a:p>
                  </a:txBody>
                  <a:tcPr marL="186014" marR="143087" marT="143087" marB="1430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 dirty="0">
                          <a:solidFill>
                            <a:schemeClr val="tx1"/>
                          </a:solidFill>
                        </a:rPr>
                        <a:t>-1 to +1</a:t>
                      </a:r>
                    </a:p>
                  </a:txBody>
                  <a:tcPr marL="186014" marR="143087" marT="143087" marB="1430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44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176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06A4258-ABFA-7869-4F78-6B9229351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73963"/>
            <a:ext cx="449629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Probability Refresher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D025D7-1979-3AA6-4579-F87AA9480A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6"/>
            <a:ext cx="111709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 = chance of an event happening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 0 and 1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np events =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np.random.choice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(['Heads', 'Tails'], 1000)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np.array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(events) == 'Heads').mean()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ZM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ZM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“Use this to show simulation-based probability.”</a:t>
            </a:r>
          </a:p>
        </p:txBody>
      </p:sp>
    </p:spTree>
    <p:extLst>
      <p:ext uri="{BB962C8B-B14F-4D97-AF65-F5344CB8AC3E}">
        <p14:creationId xmlns:p14="http://schemas.microsoft.com/office/powerpoint/2010/main" val="583603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6EBE4-DB29-A591-E825-42854700A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59F7C-8B14-24F9-17DA-E91F0DDE6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Concept:</a:t>
            </a:r>
            <a:endParaRPr lang="en-US" dirty="0"/>
          </a:p>
          <a:p>
            <a:r>
              <a:rPr lang="en-US" dirty="0"/>
              <a:t>Visualize how data is spread.</a:t>
            </a:r>
          </a:p>
          <a:p>
            <a:r>
              <a:rPr lang="en-US" dirty="0"/>
              <a:t>Example: Normal, Uniform, Binomial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Code: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data = </a:t>
            </a:r>
            <a:r>
              <a:rPr lang="en-US" dirty="0" err="1"/>
              <a:t>np.random.normal</a:t>
            </a:r>
            <a:r>
              <a:rPr lang="en-US" dirty="0"/>
              <a:t>(0, 1, 1000)</a:t>
            </a:r>
          </a:p>
          <a:p>
            <a:pPr marL="0" indent="0">
              <a:buNone/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("Normal Distribution")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834570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5346-7205-7FDA-0055-ED6476B4A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199" y="459595"/>
            <a:ext cx="9074829" cy="720517"/>
          </a:xfrm>
        </p:spPr>
        <p:txBody>
          <a:bodyPr anchor="b">
            <a:normAutofit/>
          </a:bodyPr>
          <a:lstStyle/>
          <a:p>
            <a:r>
              <a:rPr lang="en-US" sz="3200" dirty="0"/>
              <a:t>Standard Normal Distribution &amp; z-scores</a:t>
            </a:r>
            <a:endParaRPr lang="en-ZM" sz="3200" dirty="0"/>
          </a:p>
        </p:txBody>
      </p:sp>
      <p:grpSp>
        <p:nvGrpSpPr>
          <p:cNvPr id="4107" name="Group 410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4108" name="Rectangle 4107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9" name="Rectangle 410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47BC6F-493D-0B17-07A3-15953AFE8F25}"/>
                  </a:ext>
                </a:extLst>
              </p:cNvPr>
              <p:cNvSpPr txBox="1"/>
              <p:nvPr/>
            </p:nvSpPr>
            <p:spPr>
              <a:xfrm>
                <a:off x="78779" y="1360598"/>
                <a:ext cx="10003067" cy="3953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Z-score</a:t>
                </a:r>
                <a:r>
                  <a:rPr lang="en-US" dirty="0"/>
                  <a:t> standardizes data — expressing how far each value is from the </a:t>
                </a:r>
                <a:r>
                  <a:rPr lang="en-US" b="1" dirty="0"/>
                  <a:t>mean</a:t>
                </a:r>
                <a:r>
                  <a:rPr lang="en-US" dirty="0"/>
                  <a:t> in terms of </a:t>
                </a:r>
                <a:r>
                  <a:rPr lang="en-US" b="1" dirty="0"/>
                  <a:t>standard deviations</a:t>
                </a:r>
              </a:p>
              <a:p>
                <a:endParaRPr lang="en-US" b="1" dirty="0"/>
              </a:p>
              <a:p>
                <a:r>
                  <a:rPr lang="en-US" dirty="0"/>
                  <a:t>Formula: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𝑧</m:t>
                      </m:r>
                      <m:r>
                        <a:rPr lang="en-US"/>
                        <m:t>=</m:t>
                      </m:r>
                      <m:f>
                        <m:fPr>
                          <m:ctrlPr>
                            <a:rPr lang="ar-AE" i="1"/>
                          </m:ctrlPr>
                        </m:fPr>
                        <m:num>
                          <m:d>
                            <m:dPr>
                              <m:ctrlPr>
                                <a:rPr lang="ar-AE" i="1"/>
                              </m:ctrlPr>
                            </m:dPr>
                            <m:e>
                              <m:r>
                                <a:rPr lang="ar-AE" i="1"/>
                                <m:t>𝑥</m:t>
                              </m:r>
                              <m:r>
                                <a:rPr lang="ar-AE"/>
                                <m:t>−</m:t>
                              </m:r>
                              <m:r>
                                <a:rPr lang="ar-AE" i="1"/>
                                <m:t>𝜇</m:t>
                              </m:r>
                            </m:e>
                          </m:d>
                        </m:num>
                        <m:den>
                          <m:r>
                            <a:rPr lang="ar-AE" i="1"/>
                            <m:t>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</m:oMath>
                </a14:m>
                <a:r>
                  <a:rPr lang="en-US" dirty="0"/>
                  <a:t>= individual data point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𝜇</m:t>
                    </m:r>
                  </m:oMath>
                </a14:m>
                <a:r>
                  <a:rPr lang="en-US" dirty="0"/>
                  <a:t>= mean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𝜎</m:t>
                    </m:r>
                  </m:oMath>
                </a14:m>
                <a:r>
                  <a:rPr lang="en-US" dirty="0"/>
                  <a:t>= standard deviation</a:t>
                </a:r>
              </a:p>
              <a:p>
                <a:endParaRPr lang="en-ZM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47BC6F-493D-0B17-07A3-15953AFE8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9" y="1360598"/>
                <a:ext cx="10003067" cy="3953903"/>
              </a:xfrm>
              <a:prstGeom prst="rect">
                <a:avLst/>
              </a:prstGeom>
              <a:blipFill>
                <a:blip r:embed="rId2"/>
                <a:stretch>
                  <a:fillRect l="-548" t="-616"/>
                </a:stretch>
              </a:blipFill>
            </p:spPr>
            <p:txBody>
              <a:bodyPr/>
              <a:lstStyle/>
              <a:p>
                <a:r>
                  <a:rPr lang="en-ZM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217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8A10-2909-B950-B8C8-33572665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 Standard Normal Distribution &amp; z-scores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AD248-C82C-D8E2-187C-C22F73DE8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ZM" altLang="en-ZM" b="1" dirty="0">
                <a:latin typeface="Arial" panose="020B0604020202020204" pitchFamily="34" charset="0"/>
              </a:rPr>
              <a:t>Code:</a:t>
            </a:r>
            <a:endParaRPr lang="en-US" altLang="en-ZM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ZM" altLang="en-ZM" sz="36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ZM" altLang="en-ZM" dirty="0">
                <a:latin typeface="Arial" panose="020B0604020202020204" pitchFamily="34" charset="0"/>
              </a:rPr>
              <a:t>z = (</a:t>
            </a:r>
            <a:r>
              <a:rPr lang="en-ZM" altLang="en-ZM" dirty="0" err="1">
                <a:latin typeface="Arial" panose="020B0604020202020204" pitchFamily="34" charset="0"/>
              </a:rPr>
              <a:t>df</a:t>
            </a:r>
            <a:r>
              <a:rPr lang="en-ZM" altLang="en-ZM" dirty="0">
                <a:latin typeface="Arial" panose="020B0604020202020204" pitchFamily="34" charset="0"/>
              </a:rPr>
              <a:t>['age'] - </a:t>
            </a:r>
            <a:r>
              <a:rPr lang="en-ZM" altLang="en-ZM" dirty="0" err="1">
                <a:latin typeface="Arial" panose="020B0604020202020204" pitchFamily="34" charset="0"/>
              </a:rPr>
              <a:t>df</a:t>
            </a:r>
            <a:r>
              <a:rPr lang="en-ZM" altLang="en-ZM" dirty="0">
                <a:latin typeface="Arial" panose="020B0604020202020204" pitchFamily="34" charset="0"/>
              </a:rPr>
              <a:t>['age'].mean()) / </a:t>
            </a:r>
            <a:r>
              <a:rPr lang="en-ZM" altLang="en-ZM" dirty="0" err="1">
                <a:latin typeface="Arial" panose="020B0604020202020204" pitchFamily="34" charset="0"/>
              </a:rPr>
              <a:t>df</a:t>
            </a:r>
            <a:r>
              <a:rPr lang="en-ZM" altLang="en-ZM" dirty="0">
                <a:latin typeface="Arial" panose="020B0604020202020204" pitchFamily="34" charset="0"/>
              </a:rPr>
              <a:t>['age'].std() </a:t>
            </a:r>
            <a:endParaRPr lang="en-US" altLang="en-ZM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/>
              <a:t>Key Idea:</a:t>
            </a:r>
            <a:endParaRPr lang="en-US" dirty="0"/>
          </a:p>
          <a:p>
            <a:r>
              <a:rPr lang="en-US" dirty="0"/>
              <a:t>Z-scores convert any numeric column into a </a:t>
            </a:r>
            <a:r>
              <a:rPr lang="en-US" b="1" dirty="0"/>
              <a:t>standard normal scale</a:t>
            </a:r>
            <a:r>
              <a:rPr lang="en-US" dirty="0"/>
              <a:t>.</a:t>
            </a:r>
          </a:p>
          <a:p>
            <a:r>
              <a:rPr lang="en-US" dirty="0"/>
              <a:t>Most data lies within:</a:t>
            </a:r>
          </a:p>
          <a:p>
            <a:pPr lvl="1"/>
            <a:r>
              <a:rPr lang="en-US" dirty="0"/>
              <a:t>±1σ → 68%</a:t>
            </a:r>
          </a:p>
          <a:p>
            <a:pPr lvl="1"/>
            <a:r>
              <a:rPr lang="en-US" dirty="0"/>
              <a:t>±2σ → 95%</a:t>
            </a:r>
          </a:p>
          <a:p>
            <a:pPr lvl="1"/>
            <a:r>
              <a:rPr lang="en-US" dirty="0"/>
              <a:t>±3σ → 99.7%</a:t>
            </a:r>
          </a:p>
          <a:p>
            <a:r>
              <a:rPr lang="en-US" b="1" dirty="0"/>
              <a:t>Visual Description:</a:t>
            </a:r>
            <a:br>
              <a:rPr lang="en-US" dirty="0"/>
            </a:br>
            <a:r>
              <a:rPr lang="en-US" dirty="0"/>
              <a:t>A bell curve (normal distribution) showing most data centered near 0.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ZM" altLang="en-ZM" dirty="0">
              <a:latin typeface="Arial" panose="020B0604020202020204" pitchFamily="34" charset="0"/>
            </a:endParaRP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346927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F0AC-8B9B-4BE5-395C-A4D9410D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Standardized Data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CC6BC-69BB-64DB-1ADC-955681DEB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Code: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sns.histplot</a:t>
            </a:r>
            <a:r>
              <a:rPr lang="en-US" dirty="0"/>
              <a:t>(z, </a:t>
            </a:r>
            <a:r>
              <a:rPr lang="en-US" dirty="0" err="1"/>
              <a:t>kde</a:t>
            </a:r>
            <a:r>
              <a:rPr lang="en-US" dirty="0"/>
              <a:t>=True, color='teal')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('Distribution of Z-Scores for Age')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('Z-score')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('Frequency')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Interpretation:</a:t>
            </a:r>
            <a:endParaRPr lang="en-US" dirty="0"/>
          </a:p>
          <a:p>
            <a:r>
              <a:rPr lang="en-US" dirty="0"/>
              <a:t>The curve should resemble a </a:t>
            </a:r>
            <a:r>
              <a:rPr lang="en-US" b="1" dirty="0"/>
              <a:t>bell shape</a:t>
            </a:r>
            <a:r>
              <a:rPr lang="en-US" dirty="0"/>
              <a:t> centered near 0.</a:t>
            </a:r>
          </a:p>
          <a:p>
            <a:r>
              <a:rPr lang="en-US" dirty="0"/>
              <a:t>Points far from the center (left or right) are </a:t>
            </a:r>
            <a:r>
              <a:rPr lang="en-US" b="1" dirty="0"/>
              <a:t>potential outliers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KDE (Kernel Density Estimate)</a:t>
            </a:r>
            <a:r>
              <a:rPr lang="en-US" dirty="0"/>
              <a:t> smooths the histogram for better visualization.</a:t>
            </a:r>
          </a:p>
          <a:p>
            <a:r>
              <a:rPr lang="en-US" b="1" dirty="0"/>
              <a:t>Visual Description:</a:t>
            </a:r>
            <a:endParaRPr lang="en-US" dirty="0"/>
          </a:p>
          <a:p>
            <a:r>
              <a:rPr lang="en-US" dirty="0"/>
              <a:t>Most z-scores between -2 and +2.</a:t>
            </a:r>
          </a:p>
          <a:p>
            <a:r>
              <a:rPr lang="en-US" dirty="0"/>
              <a:t>A few points beyond ±3 indicate </a:t>
            </a:r>
            <a:r>
              <a:rPr lang="en-US" b="1" dirty="0"/>
              <a:t>extreme ages</a:t>
            </a:r>
            <a:r>
              <a:rPr lang="en-US" dirty="0"/>
              <a:t> in the dataset.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062450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0896-8235-93E1-3977-A03BCF551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8636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outliers = </a:t>
            </a:r>
            <a:r>
              <a:rPr lang="en-US" dirty="0" err="1"/>
              <a:t>df</a:t>
            </a:r>
            <a:r>
              <a:rPr lang="en-US" dirty="0"/>
              <a:t>[abs(z) &gt; 3]</a:t>
            </a:r>
          </a:p>
          <a:p>
            <a:pPr marL="0" indent="0">
              <a:buNone/>
            </a:pPr>
            <a:r>
              <a:rPr lang="en-US" dirty="0"/>
              <a:t>print(outliers[['age’]])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Concept:</a:t>
            </a:r>
            <a:endParaRPr lang="en-US" dirty="0"/>
          </a:p>
          <a:p>
            <a:r>
              <a:rPr lang="en-US" dirty="0"/>
              <a:t>Any data point with |z| &gt; 3 is considered </a:t>
            </a:r>
            <a:r>
              <a:rPr lang="en-US" b="1" dirty="0"/>
              <a:t>an outlier</a:t>
            </a:r>
            <a:r>
              <a:rPr lang="en-US" dirty="0"/>
              <a:t> (beyond 3 standard deviations).</a:t>
            </a:r>
          </a:p>
          <a:p>
            <a:r>
              <a:rPr lang="en-US" dirty="0"/>
              <a:t>This method assumes data follows a </a:t>
            </a:r>
            <a:r>
              <a:rPr lang="en-US" b="1" dirty="0"/>
              <a:t>normal distribution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Compare this method to IQR-based detection</a:t>
            </a:r>
          </a:p>
          <a:p>
            <a:pPr marL="0" indent="0">
              <a:buNone/>
            </a:pPr>
            <a:endParaRPr lang="en-US" dirty="0"/>
          </a:p>
          <a:p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0D640A-BFB5-9FDE-AC36-237B45E4B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782060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Detecting Outliers Using Z-scores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DD4C6D-78C7-585F-65F0-7AE546B0A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10578"/>
              </p:ext>
            </p:extLst>
          </p:nvPr>
        </p:nvGraphicFramePr>
        <p:xfrm>
          <a:off x="838200" y="4857912"/>
          <a:ext cx="8128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892780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73086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038930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05911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Method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Basis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Threshold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Best For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009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Spread between Q1–Q3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1.5×IQR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Skewed data / non-normal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44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M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743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1316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0B7C6-CFCD-49FB-9C41-C00A322C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…..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6232-91BC-F441-D407-30616C424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Interpretation Example:</a:t>
            </a:r>
            <a:endParaRPr lang="en-US" dirty="0"/>
          </a:p>
          <a:p>
            <a:r>
              <a:rPr lang="en-US" dirty="0"/>
              <a:t>In Titanic data, very young or very old passengers may appear as z-score outliers.</a:t>
            </a:r>
          </a:p>
          <a:p>
            <a:r>
              <a:rPr lang="en-US" dirty="0"/>
              <a:t>But for skewed variables (like fare), </a:t>
            </a:r>
            <a:r>
              <a:rPr lang="en-US" b="1" dirty="0"/>
              <a:t>IQR</a:t>
            </a:r>
            <a:r>
              <a:rPr lang="en-US" dirty="0"/>
              <a:t> might be more reliable.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Takeaway:</a:t>
            </a:r>
            <a:br>
              <a:rPr lang="en-US" dirty="0"/>
            </a:br>
            <a:r>
              <a:rPr lang="en-US" dirty="0"/>
              <a:t>Z-score and IQR both detect outliers — but choice depends on </a:t>
            </a:r>
            <a:r>
              <a:rPr lang="en-US" b="1" dirty="0"/>
              <a:t>data distribution</a:t>
            </a:r>
            <a:r>
              <a:rPr lang="en-US" dirty="0"/>
              <a:t>.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152761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8B7D-AD45-D70D-7030-AA3848E9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Central Limit Theorem (CLT)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E01B8-CB18-B88B-AAE5-280986342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What is the Central Limit Theorem?</a:t>
            </a:r>
          </a:p>
          <a:p>
            <a:pPr marL="0" indent="0">
              <a:buNone/>
            </a:pPr>
            <a:r>
              <a:rPr lang="en-US" b="1" dirty="0"/>
              <a:t>Concept: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Central Limit Theorem (CLT)</a:t>
            </a:r>
            <a:r>
              <a:rPr lang="en-US" dirty="0"/>
              <a:t> states that:</a:t>
            </a:r>
          </a:p>
          <a:p>
            <a:r>
              <a:rPr lang="en-US" dirty="0"/>
              <a:t>When you take many random samples from any population and calculate their means,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distribution of those means</a:t>
            </a:r>
            <a:r>
              <a:rPr lang="en-US" dirty="0"/>
              <a:t> tends to become </a:t>
            </a:r>
            <a:r>
              <a:rPr lang="en-US" b="1" dirty="0"/>
              <a:t>normal (bell-shaped)</a:t>
            </a:r>
            <a:r>
              <a:rPr lang="en-US" dirty="0"/>
              <a:t> —</a:t>
            </a:r>
            <a:br>
              <a:rPr lang="en-US" dirty="0"/>
            </a:br>
            <a:r>
              <a:rPr lang="en-US" b="1" dirty="0"/>
              <a:t>even if the original data isn’t normally distributed.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Works for </a:t>
            </a:r>
            <a:r>
              <a:rPr lang="en-US" b="1" dirty="0"/>
              <a:t>large sample sizes</a:t>
            </a:r>
            <a:r>
              <a:rPr lang="en-US" dirty="0"/>
              <a:t> (typically n ≥ 30).</a:t>
            </a:r>
          </a:p>
          <a:p>
            <a:r>
              <a:rPr lang="en-US" dirty="0"/>
              <a:t>The mean of the sampling distribution ≈ population mean.</a:t>
            </a:r>
          </a:p>
          <a:p>
            <a:r>
              <a:rPr lang="en-US" dirty="0"/>
              <a:t>The spread of the sampling distribution decreases as sample size increases.</a:t>
            </a:r>
          </a:p>
          <a:p>
            <a:pPr marL="0" indent="0">
              <a:buNone/>
            </a:pPr>
            <a:r>
              <a:rPr lang="en-US" b="1" dirty="0"/>
              <a:t>Why It Matters:</a:t>
            </a:r>
            <a:endParaRPr lang="en-US" dirty="0"/>
          </a:p>
          <a:p>
            <a:r>
              <a:rPr lang="en-US" dirty="0"/>
              <a:t>CLT is the foundation of </a:t>
            </a:r>
            <a:r>
              <a:rPr lang="en-US" b="1" dirty="0"/>
              <a:t>statistical inference</a:t>
            </a:r>
            <a:r>
              <a:rPr lang="en-US" dirty="0"/>
              <a:t> — it allows us to estimate population parameters from samples.</a:t>
            </a:r>
          </a:p>
          <a:p>
            <a:r>
              <a:rPr lang="en-US" dirty="0"/>
              <a:t>Enables </a:t>
            </a:r>
            <a:r>
              <a:rPr lang="en-US" b="1" dirty="0"/>
              <a:t>confidence intervals</a:t>
            </a:r>
            <a:r>
              <a:rPr lang="en-US" dirty="0"/>
              <a:t>, </a:t>
            </a:r>
            <a:r>
              <a:rPr lang="en-US" b="1" dirty="0"/>
              <a:t>hypothesis testing</a:t>
            </a:r>
            <a:r>
              <a:rPr lang="en-US" dirty="0"/>
              <a:t>, and </a:t>
            </a:r>
            <a:r>
              <a:rPr lang="en-US" b="1" dirty="0"/>
              <a:t>p-value calculations</a:t>
            </a:r>
            <a:endParaRPr lang="en-US" dirty="0"/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05900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6EA0-F018-6464-0F3B-9C7162B9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Demonstrating the CLT in Python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11B8-8259-780C-33B4-399AD627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3788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CLT in Action — Sampling the Titanic Fares</a:t>
            </a:r>
          </a:p>
          <a:p>
            <a:r>
              <a:rPr lang="en-US" b="1" dirty="0"/>
              <a:t>Code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Step 1: Draw random samples and compute their means</a:t>
            </a:r>
          </a:p>
          <a:p>
            <a:pPr marL="0" indent="0">
              <a:buNone/>
            </a:pPr>
            <a:r>
              <a:rPr lang="en-US" dirty="0"/>
              <a:t>means = [</a:t>
            </a:r>
            <a:r>
              <a:rPr lang="en-US" dirty="0" err="1"/>
              <a:t>np.mean</a:t>
            </a:r>
            <a:r>
              <a:rPr lang="en-US" dirty="0"/>
              <a:t>(</a:t>
            </a:r>
            <a:r>
              <a:rPr lang="en-US" dirty="0" err="1"/>
              <a:t>np.random.choice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['fare'].</a:t>
            </a:r>
            <a:r>
              <a:rPr lang="en-US" dirty="0" err="1"/>
              <a:t>dropna</a:t>
            </a:r>
            <a:r>
              <a:rPr lang="en-US" dirty="0"/>
              <a:t>(), 50)) for _ in range(1000)]</a:t>
            </a:r>
          </a:p>
          <a:p>
            <a:pPr marL="0" indent="0">
              <a:buNone/>
            </a:pPr>
            <a:r>
              <a:rPr lang="en-US" dirty="0"/>
              <a:t># Step 2: Plot the sampling distribution</a:t>
            </a:r>
          </a:p>
          <a:p>
            <a:pPr marL="0" indent="0">
              <a:buNone/>
            </a:pPr>
            <a:r>
              <a:rPr lang="en-US" dirty="0" err="1"/>
              <a:t>sns.histplot</a:t>
            </a:r>
            <a:r>
              <a:rPr lang="en-US" dirty="0"/>
              <a:t>(means, </a:t>
            </a:r>
            <a:r>
              <a:rPr lang="en-US" dirty="0" err="1"/>
              <a:t>kde</a:t>
            </a:r>
            <a:r>
              <a:rPr lang="en-US" dirty="0"/>
              <a:t>=True, color='</a:t>
            </a:r>
            <a:r>
              <a:rPr lang="en-US" dirty="0" err="1"/>
              <a:t>skyblue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("Sampling Distribution of Fare Means (n=50, 1000 samples)")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("Sample Mean Fare")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("Frequency")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8916500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F435-C424-8CCF-6B14-A1E015F4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.. Demonstrating the CLT in Python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1FAD-449C-CAC3-68E7-CC86F45AA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Explanation:</a:t>
            </a:r>
            <a:endParaRPr lang="en-US" dirty="0"/>
          </a:p>
          <a:p>
            <a:r>
              <a:rPr lang="en-US" dirty="0" err="1"/>
              <a:t>np.random.choice</a:t>
            </a:r>
            <a:r>
              <a:rPr lang="en-US" dirty="0"/>
              <a:t>() randomly samples 50 fares </a:t>
            </a:r>
            <a:r>
              <a:rPr lang="en-US" b="1" dirty="0"/>
              <a:t>with replacement</a:t>
            </a:r>
            <a:r>
              <a:rPr lang="en-US" dirty="0"/>
              <a:t>.</a:t>
            </a:r>
          </a:p>
          <a:p>
            <a:r>
              <a:rPr lang="en-US" dirty="0" err="1"/>
              <a:t>np.mean</a:t>
            </a:r>
            <a:r>
              <a:rPr lang="en-US" dirty="0"/>
              <a:t>() computes the mean of each sample.</a:t>
            </a:r>
          </a:p>
          <a:p>
            <a:r>
              <a:rPr lang="en-US" dirty="0"/>
              <a:t>The loop runs 1000 times to create a </a:t>
            </a:r>
            <a:r>
              <a:rPr lang="en-US" b="1" dirty="0"/>
              <a:t>distribution of sample means</a:t>
            </a:r>
            <a:r>
              <a:rPr lang="en-US" dirty="0"/>
              <a:t>.</a:t>
            </a:r>
          </a:p>
          <a:p>
            <a:r>
              <a:rPr lang="en-US" dirty="0"/>
              <a:t>Finally, we visualize this distribution using Seaborn.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Visual Description:</a:t>
            </a:r>
            <a:br>
              <a:rPr lang="en-US" dirty="0"/>
            </a:br>
            <a:r>
              <a:rPr lang="en-US" dirty="0"/>
              <a:t>Even though fare in Titanic is </a:t>
            </a:r>
            <a:r>
              <a:rPr lang="en-US" b="1" dirty="0"/>
              <a:t>right-skewed</a:t>
            </a:r>
            <a:r>
              <a:rPr lang="en-US" dirty="0"/>
              <a:t> (some passengers paid much more),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sampling means</a:t>
            </a:r>
            <a:r>
              <a:rPr lang="en-US" dirty="0"/>
              <a:t> histogram looks </a:t>
            </a:r>
            <a:r>
              <a:rPr lang="en-US" b="1" dirty="0"/>
              <a:t>bell-shaped</a:t>
            </a:r>
            <a:r>
              <a:rPr lang="en-US" dirty="0"/>
              <a:t> — that’s CLT in action.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143151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F0D1-FB92-286F-0338-D38AAB36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4160"/>
          </a:xfrm>
        </p:spPr>
        <p:txBody>
          <a:bodyPr>
            <a:normAutofit fontScale="90000"/>
          </a:bodyPr>
          <a:lstStyle/>
          <a:p>
            <a:r>
              <a:rPr lang="en-US" dirty="0"/>
              <a:t>Why the CLT is Important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105D7-08D1-C1BC-6C2B-C430D017C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054"/>
            <a:ext cx="8329246" cy="55416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Understanding the Power of the CLT</a:t>
            </a:r>
          </a:p>
          <a:p>
            <a:pPr marL="0" indent="0">
              <a:buNone/>
            </a:pPr>
            <a:r>
              <a:rPr lang="en-US" b="1" dirty="0"/>
              <a:t>Concept Summary Table:</a:t>
            </a:r>
            <a:endParaRPr lang="en-US" dirty="0"/>
          </a:p>
          <a:p>
            <a:endParaRPr lang="en-ZM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EDBF6B-D009-C654-E293-E50DE1C42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683138"/>
              </p:ext>
            </p:extLst>
          </p:nvPr>
        </p:nvGraphicFramePr>
        <p:xfrm>
          <a:off x="838200" y="2051738"/>
          <a:ext cx="9396045" cy="2138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15">
                  <a:extLst>
                    <a:ext uri="{9D8B030D-6E8A-4147-A177-3AD203B41FA5}">
                      <a16:colId xmlns:a16="http://schemas.microsoft.com/office/drawing/2014/main" val="2104374149"/>
                    </a:ext>
                  </a:extLst>
                </a:gridCol>
                <a:gridCol w="3132015">
                  <a:extLst>
                    <a:ext uri="{9D8B030D-6E8A-4147-A177-3AD203B41FA5}">
                      <a16:colId xmlns:a16="http://schemas.microsoft.com/office/drawing/2014/main" val="191461016"/>
                    </a:ext>
                  </a:extLst>
                </a:gridCol>
                <a:gridCol w="3132015">
                  <a:extLst>
                    <a:ext uri="{9D8B030D-6E8A-4147-A177-3AD203B41FA5}">
                      <a16:colId xmlns:a16="http://schemas.microsoft.com/office/drawing/2014/main" val="3350705960"/>
                    </a:ext>
                  </a:extLst>
                </a:gridCol>
              </a:tblGrid>
              <a:tr h="29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Element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 (Titanic Data)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265673"/>
                  </a:ext>
                </a:extLst>
              </a:tr>
              <a:tr h="29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Population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passenger fares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fare</a:t>
                      </a:r>
                      <a:r>
                        <a:rPr lang="en-US"/>
                        <a:t> values in 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099379"/>
                  </a:ext>
                </a:extLst>
              </a:tr>
              <a:tr h="29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Subset of passengers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 random fares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029639"/>
                  </a:ext>
                </a:extLst>
              </a:tr>
              <a:tr h="400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Sampling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Distribution of sample 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means</a:t>
                      </a:r>
                      <a:r>
                        <a:rPr lang="en-US"/>
                        <a:t> list we created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727406"/>
                  </a:ext>
                </a:extLst>
              </a:tr>
              <a:tr h="515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Sampling means follow a normal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Shown in histogram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950504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5F4A4B8-5A16-5F49-7C42-4C8E6D264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62" y="4189815"/>
            <a:ext cx="10515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CLT allows us to make probabilistic statements about sample means.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 large enough sample, we can assume normality, even if data is skewed.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standard error (spread of sample means) becomes smaller as sample size grows.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Suggestion: </a:t>
            </a:r>
            <a:endParaRPr kumimoji="0" lang="en-US" altLang="en-ZM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3 small histograms: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 fare data (skewed right)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means with n=10 (still irregular)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means with n=100 (smooth bell curve)</a:t>
            </a:r>
          </a:p>
        </p:txBody>
      </p:sp>
    </p:spTree>
    <p:extLst>
      <p:ext uri="{BB962C8B-B14F-4D97-AF65-F5344CB8AC3E}">
        <p14:creationId xmlns:p14="http://schemas.microsoft.com/office/powerpoint/2010/main" val="27208184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6CB51B5-3736-9F8B-04B1-F7F64A831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43186"/>
            <a:ext cx="953177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</a:t>
            </a:r>
            <a:r>
              <a:rPr kumimoji="0" lang="en-US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vs.</a:t>
            </a: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Causation</a:t>
            </a:r>
            <a:r>
              <a:rPr kumimoji="0" lang="en-US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The Core Idea</a:t>
            </a:r>
            <a:endParaRPr kumimoji="0" lang="en-ZM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6BCA83-4368-D7E5-DB3E-FA42ED1A2B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2253"/>
            <a:ext cx="8575431" cy="4238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/>
              <a:t>Correlation Does Not Imply Causation</a:t>
            </a:r>
          </a:p>
          <a:p>
            <a:pPr marL="0" indent="0">
              <a:buNone/>
            </a:pPr>
            <a:r>
              <a:rPr lang="en-US" sz="1800" b="1" dirty="0"/>
              <a:t>Concept:</a:t>
            </a:r>
            <a:endParaRPr lang="en-US" sz="1800" dirty="0"/>
          </a:p>
          <a:p>
            <a:r>
              <a:rPr lang="en-US" sz="1800" b="1" dirty="0"/>
              <a:t>Correlation</a:t>
            </a:r>
            <a:r>
              <a:rPr lang="en-US" sz="1800" dirty="0"/>
              <a:t> measures the </a:t>
            </a:r>
            <a:r>
              <a:rPr lang="en-US" sz="1800" i="1" dirty="0"/>
              <a:t>strength and direction</a:t>
            </a:r>
            <a:r>
              <a:rPr lang="en-US" sz="1800" dirty="0"/>
              <a:t> of a relationship between two variables.</a:t>
            </a:r>
          </a:p>
          <a:p>
            <a:r>
              <a:rPr lang="en-US" sz="1800" dirty="0"/>
              <a:t>But even a </a:t>
            </a:r>
            <a:r>
              <a:rPr lang="en-US" sz="1800" b="1" dirty="0"/>
              <a:t>strong correlation</a:t>
            </a:r>
            <a:r>
              <a:rPr lang="en-US" sz="1800" dirty="0"/>
              <a:t> does </a:t>
            </a:r>
            <a:r>
              <a:rPr lang="en-US" sz="1800" b="1" dirty="0"/>
              <a:t>not</a:t>
            </a:r>
            <a:r>
              <a:rPr lang="en-US" sz="1800" dirty="0"/>
              <a:t> mean one variable </a:t>
            </a:r>
            <a:r>
              <a:rPr lang="en-US" sz="1800" b="1" dirty="0"/>
              <a:t>causes</a:t>
            </a:r>
            <a:r>
              <a:rPr lang="en-US" sz="1800" dirty="0"/>
              <a:t> the other.</a:t>
            </a:r>
          </a:p>
          <a:p>
            <a:pPr marL="0" indent="0">
              <a:buNone/>
            </a:pPr>
            <a:r>
              <a:rPr lang="en-US" sz="1800" b="1" dirty="0"/>
              <a:t>Example:</a:t>
            </a:r>
            <a:endParaRPr lang="en-US" sz="1800" dirty="0"/>
          </a:p>
          <a:p>
            <a:r>
              <a:rPr lang="en-US" sz="1800" dirty="0"/>
              <a:t>A study finds that </a:t>
            </a:r>
            <a:r>
              <a:rPr lang="en-US" sz="1800" b="1" dirty="0"/>
              <a:t>ice cream sales</a:t>
            </a:r>
            <a:r>
              <a:rPr lang="en-US" sz="1800" dirty="0"/>
              <a:t> and </a:t>
            </a:r>
            <a:r>
              <a:rPr lang="en-US" sz="1800" b="1" dirty="0"/>
              <a:t>drowning rates</a:t>
            </a:r>
            <a:r>
              <a:rPr lang="en-US" sz="1800" dirty="0"/>
              <a:t> rise together.</a:t>
            </a:r>
          </a:p>
          <a:p>
            <a:pPr marL="0" indent="0">
              <a:buNone/>
            </a:pPr>
            <a:r>
              <a:rPr lang="en-US" sz="1800" b="1" dirty="0"/>
              <a:t>Why?</a:t>
            </a:r>
            <a:br>
              <a:rPr lang="en-US" sz="1800" dirty="0"/>
            </a:br>
            <a:r>
              <a:rPr lang="en-US" sz="1800" dirty="0"/>
              <a:t>Because both increase during </a:t>
            </a:r>
            <a:r>
              <a:rPr lang="en-US" sz="1800" b="1" dirty="0"/>
              <a:t>hot weather</a:t>
            </a:r>
            <a:r>
              <a:rPr lang="en-US" sz="1800" dirty="0"/>
              <a:t> — a </a:t>
            </a:r>
            <a:r>
              <a:rPr lang="en-US" sz="1800" i="1" dirty="0"/>
              <a:t>confounding variable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b="1" dirty="0"/>
              <a:t>Visual (suggested for slide):</a:t>
            </a:r>
            <a:endParaRPr lang="en-US" sz="1800" dirty="0"/>
          </a:p>
          <a:p>
            <a:r>
              <a:rPr lang="en-US" sz="1800" dirty="0"/>
              <a:t>A simple scatter plot with both lines trending upward.</a:t>
            </a:r>
          </a:p>
          <a:p>
            <a:r>
              <a:rPr lang="en-US" sz="1800" dirty="0"/>
              <a:t>Add a third icon (☀️ “Hot Weather”) in the middle to illustrate the hidden link</a:t>
            </a:r>
          </a:p>
        </p:txBody>
      </p:sp>
    </p:spTree>
    <p:extLst>
      <p:ext uri="{BB962C8B-B14F-4D97-AF65-F5344CB8AC3E}">
        <p14:creationId xmlns:p14="http://schemas.microsoft.com/office/powerpoint/2010/main" val="1966146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B79F-00DA-F0F2-08A4-7EF5E177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Confounding Variables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87C56-58B9-CB3F-85CA-2E2D8A195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163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The Hidden Link — Confounding Factors</a:t>
            </a:r>
          </a:p>
          <a:p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confounding variable</a:t>
            </a:r>
            <a:r>
              <a:rPr lang="en-US" dirty="0"/>
              <a:t> is a hidden factor that influences both variables,</a:t>
            </a:r>
            <a:br>
              <a:rPr lang="en-US" dirty="0"/>
            </a:br>
            <a:r>
              <a:rPr lang="en-US" dirty="0"/>
              <a:t>creating a </a:t>
            </a:r>
            <a:r>
              <a:rPr lang="en-US" b="1" dirty="0"/>
              <a:t>false or misleading relationship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ZM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D5E298-816A-5354-D958-26016A497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383875"/>
              </p:ext>
            </p:extLst>
          </p:nvPr>
        </p:nvGraphicFramePr>
        <p:xfrm>
          <a:off x="838200" y="4095912"/>
          <a:ext cx="1032216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0723">
                  <a:extLst>
                    <a:ext uri="{9D8B030D-6E8A-4147-A177-3AD203B41FA5}">
                      <a16:colId xmlns:a16="http://schemas.microsoft.com/office/drawing/2014/main" val="1824157731"/>
                    </a:ext>
                  </a:extLst>
                </a:gridCol>
                <a:gridCol w="3440723">
                  <a:extLst>
                    <a:ext uri="{9D8B030D-6E8A-4147-A177-3AD203B41FA5}">
                      <a16:colId xmlns:a16="http://schemas.microsoft.com/office/drawing/2014/main" val="2893310263"/>
                    </a:ext>
                  </a:extLst>
                </a:gridCol>
                <a:gridCol w="3440723">
                  <a:extLst>
                    <a:ext uri="{9D8B030D-6E8A-4147-A177-3AD203B41FA5}">
                      <a16:colId xmlns:a16="http://schemas.microsoft.com/office/drawing/2014/main" val="2675558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Variable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Variable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Confounder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66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Ice cream sales </a:t>
                      </a:r>
                      <a:r>
                        <a:rPr lang="en-ZM"/>
                        <a:t>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Drowning incidents </a:t>
                      </a:r>
                      <a:r>
                        <a:rPr lang="en-ZM"/>
                        <a:t>🏊‍♂️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Temperature ☀️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54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Coffee intake 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Productivity </a:t>
                      </a:r>
                      <a:r>
                        <a:rPr lang="en-ZM"/>
                        <a:t>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Sleep quality </a:t>
                      </a:r>
                      <a:r>
                        <a:rPr lang="en-ZM"/>
                        <a:t>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718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Shoe size </a:t>
                      </a:r>
                      <a:r>
                        <a:rPr lang="en-ZM"/>
                        <a:t>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Reading ability </a:t>
                      </a:r>
                      <a:r>
                        <a:rPr lang="en-ZM"/>
                        <a:t>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Age </a:t>
                      </a:r>
                      <a:r>
                        <a:rPr lang="en-ZM" dirty="0"/>
                        <a:t>👶➡️👦➡️🧑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885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688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9A98-971A-C1DE-36CF-269A2AE9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…Understanding Confounding Variables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515C6-410D-08FC-3591-AD493D3CA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Code Demo Idea :</a:t>
            </a:r>
            <a:br>
              <a:rPr lang="en-US" dirty="0"/>
            </a:br>
            <a:r>
              <a:rPr lang="en-US" dirty="0"/>
              <a:t>Simulate spurious correlation:</a:t>
            </a:r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import pandas as pd</a:t>
            </a:r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import </a:t>
            </a:r>
            <a:r>
              <a:rPr lang="en-US" dirty="0" err="1">
                <a:latin typeface="Abadi ExtraLight" panose="020B0204020104020204" pitchFamily="34" charset="0"/>
              </a:rPr>
              <a:t>numpy</a:t>
            </a:r>
            <a:r>
              <a:rPr lang="en-US" dirty="0">
                <a:latin typeface="Abadi ExtraLight" panose="020B0204020104020204" pitchFamily="34" charset="0"/>
              </a:rPr>
              <a:t> as np</a:t>
            </a:r>
          </a:p>
          <a:p>
            <a:pPr marL="0" indent="0">
              <a:buNone/>
            </a:pPr>
            <a:endParaRPr lang="en-US" dirty="0"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np.random.seed</a:t>
            </a:r>
            <a:r>
              <a:rPr lang="en-US" dirty="0">
                <a:latin typeface="Abadi ExtraLight" panose="020B0204020104020204" pitchFamily="34" charset="0"/>
              </a:rPr>
              <a:t>(42)</a:t>
            </a:r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temperature = </a:t>
            </a:r>
            <a:r>
              <a:rPr lang="en-US" dirty="0" err="1">
                <a:latin typeface="Abadi ExtraLight" panose="020B0204020104020204" pitchFamily="34" charset="0"/>
              </a:rPr>
              <a:t>np.random.randint</a:t>
            </a:r>
            <a:r>
              <a:rPr lang="en-US" dirty="0">
                <a:latin typeface="Abadi ExtraLight" panose="020B0204020104020204" pitchFamily="34" charset="0"/>
              </a:rPr>
              <a:t>(20, 40, 100)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ice_cream_sales</a:t>
            </a:r>
            <a:r>
              <a:rPr lang="en-US" dirty="0">
                <a:latin typeface="Abadi ExtraLight" panose="020B0204020104020204" pitchFamily="34" charset="0"/>
              </a:rPr>
              <a:t> = temperature * 10 + </a:t>
            </a:r>
            <a:r>
              <a:rPr lang="en-US" dirty="0" err="1">
                <a:latin typeface="Abadi ExtraLight" panose="020B0204020104020204" pitchFamily="34" charset="0"/>
              </a:rPr>
              <a:t>np.random.randint</a:t>
            </a:r>
            <a:r>
              <a:rPr lang="en-US" dirty="0">
                <a:latin typeface="Abadi ExtraLight" panose="020B0204020104020204" pitchFamily="34" charset="0"/>
              </a:rPr>
              <a:t>(0, 30, 100)</a:t>
            </a: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drowning_cases</a:t>
            </a:r>
            <a:r>
              <a:rPr lang="en-US" dirty="0">
                <a:latin typeface="Abadi ExtraLight" panose="020B0204020104020204" pitchFamily="34" charset="0"/>
              </a:rPr>
              <a:t> = temperature * 2 + </a:t>
            </a:r>
            <a:r>
              <a:rPr lang="en-US" dirty="0" err="1">
                <a:latin typeface="Abadi ExtraLight" panose="020B0204020104020204" pitchFamily="34" charset="0"/>
              </a:rPr>
              <a:t>np.random.randint</a:t>
            </a:r>
            <a:r>
              <a:rPr lang="en-US" dirty="0">
                <a:latin typeface="Abadi ExtraLight" panose="020B0204020104020204" pitchFamily="34" charset="0"/>
              </a:rPr>
              <a:t>(0, 5, 100)</a:t>
            </a:r>
          </a:p>
          <a:p>
            <a:pPr marL="0" indent="0">
              <a:buNone/>
            </a:pPr>
            <a:endParaRPr lang="en-US" dirty="0"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df</a:t>
            </a:r>
            <a:r>
              <a:rPr lang="en-US" dirty="0">
                <a:latin typeface="Abadi ExtraLight" panose="020B0204020104020204" pitchFamily="34" charset="0"/>
              </a:rPr>
              <a:t> = </a:t>
            </a:r>
            <a:r>
              <a:rPr lang="en-US" dirty="0" err="1">
                <a:latin typeface="Abadi ExtraLight" panose="020B0204020104020204" pitchFamily="34" charset="0"/>
              </a:rPr>
              <a:t>pd.DataFrame</a:t>
            </a:r>
            <a:r>
              <a:rPr lang="en-US" dirty="0">
                <a:latin typeface="Abadi ExtraLight" panose="020B0204020104020204" pitchFamily="34" charset="0"/>
              </a:rPr>
              <a:t>({'temperature': temperature,</a:t>
            </a:r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                   '</a:t>
            </a:r>
            <a:r>
              <a:rPr lang="en-US" dirty="0" err="1">
                <a:latin typeface="Abadi ExtraLight" panose="020B0204020104020204" pitchFamily="34" charset="0"/>
              </a:rPr>
              <a:t>ice_cream_sales</a:t>
            </a:r>
            <a:r>
              <a:rPr lang="en-US" dirty="0">
                <a:latin typeface="Abadi ExtraLight" panose="020B0204020104020204" pitchFamily="34" charset="0"/>
              </a:rPr>
              <a:t>': </a:t>
            </a:r>
            <a:r>
              <a:rPr lang="en-US" dirty="0" err="1">
                <a:latin typeface="Abadi ExtraLight" panose="020B0204020104020204" pitchFamily="34" charset="0"/>
              </a:rPr>
              <a:t>ice_cream_sales</a:t>
            </a:r>
            <a:r>
              <a:rPr lang="en-US" dirty="0">
                <a:latin typeface="Abadi ExtraLight" panose="020B0204020104020204" pitchFamily="34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                   '</a:t>
            </a:r>
            <a:r>
              <a:rPr lang="en-US" dirty="0" err="1">
                <a:latin typeface="Abadi ExtraLight" panose="020B0204020104020204" pitchFamily="34" charset="0"/>
              </a:rPr>
              <a:t>drowning_cases</a:t>
            </a:r>
            <a:r>
              <a:rPr lang="en-US" dirty="0">
                <a:latin typeface="Abadi ExtraLight" panose="020B0204020104020204" pitchFamily="34" charset="0"/>
              </a:rPr>
              <a:t>': </a:t>
            </a:r>
            <a:r>
              <a:rPr lang="en-US" dirty="0" err="1">
                <a:latin typeface="Abadi ExtraLight" panose="020B0204020104020204" pitchFamily="34" charset="0"/>
              </a:rPr>
              <a:t>drowning_cases</a:t>
            </a:r>
            <a:r>
              <a:rPr lang="en-US" dirty="0">
                <a:latin typeface="Abadi ExtraLight" panose="020B0204020104020204" pitchFamily="34" charset="0"/>
              </a:rPr>
              <a:t>})</a:t>
            </a:r>
          </a:p>
          <a:p>
            <a:pPr marL="0" indent="0">
              <a:buNone/>
            </a:pPr>
            <a:endParaRPr lang="en-US" dirty="0"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print(</a:t>
            </a:r>
            <a:r>
              <a:rPr lang="en-US" dirty="0" err="1">
                <a:latin typeface="Abadi ExtraLight" panose="020B0204020104020204" pitchFamily="34" charset="0"/>
              </a:rPr>
              <a:t>df.corr</a:t>
            </a:r>
            <a:r>
              <a:rPr lang="en-US" dirty="0">
                <a:latin typeface="Abadi ExtraLight" panose="020B0204020104020204" pitchFamily="34" charset="0"/>
              </a:rPr>
              <a:t>())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2309389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4F5E7-8039-0033-A74D-00B3370B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Matters in Data Analysis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572E8-E801-1201-7EF6-B1F1621DE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Interpreting Correlations Responsibly</a:t>
            </a:r>
          </a:p>
          <a:p>
            <a:pPr marL="0" indent="0">
              <a:buNone/>
            </a:pPr>
            <a:r>
              <a:rPr lang="en-US" b="1" dirty="0"/>
              <a:t>Key Takeaways:</a:t>
            </a:r>
            <a:endParaRPr lang="en-US" dirty="0"/>
          </a:p>
          <a:p>
            <a:r>
              <a:rPr lang="en-US" dirty="0"/>
              <a:t>Correlation helps </a:t>
            </a:r>
            <a:r>
              <a:rPr lang="en-US" b="1" dirty="0"/>
              <a:t>discover patterns</a:t>
            </a:r>
            <a:r>
              <a:rPr lang="en-US" dirty="0"/>
              <a:t>, but not </a:t>
            </a:r>
            <a:r>
              <a:rPr lang="en-US" b="1" dirty="0"/>
              <a:t>prove causes</a:t>
            </a:r>
            <a:r>
              <a:rPr lang="en-US" dirty="0"/>
              <a:t>.</a:t>
            </a:r>
          </a:p>
          <a:p>
            <a:r>
              <a:rPr lang="en-US" dirty="0"/>
              <a:t>Always check for </a:t>
            </a:r>
            <a:r>
              <a:rPr lang="en-US" b="1" dirty="0"/>
              <a:t>external or hidden factors</a:t>
            </a:r>
            <a:r>
              <a:rPr lang="en-US" dirty="0"/>
              <a:t>.</a:t>
            </a:r>
          </a:p>
          <a:p>
            <a:r>
              <a:rPr lang="en-US" dirty="0"/>
              <a:t>Use </a:t>
            </a:r>
            <a:r>
              <a:rPr lang="en-US" b="1" dirty="0"/>
              <a:t>domain knowledge</a:t>
            </a:r>
            <a:r>
              <a:rPr lang="en-US" dirty="0"/>
              <a:t>, not just statistics, to interpret relationships.</a:t>
            </a:r>
          </a:p>
          <a:p>
            <a:r>
              <a:rPr lang="en-US" dirty="0"/>
              <a:t>Causation usually requires </a:t>
            </a:r>
            <a:r>
              <a:rPr lang="en-US" b="1" dirty="0"/>
              <a:t>controlled experiments</a:t>
            </a:r>
            <a:r>
              <a:rPr lang="en-US" dirty="0"/>
              <a:t> or </a:t>
            </a:r>
            <a:r>
              <a:rPr lang="en-US" b="1" dirty="0"/>
              <a:t>longitudinal data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Visual Suggestion: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A triangle diagram: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↔ B  (correlation)</a:t>
            </a:r>
          </a:p>
          <a:p>
            <a:pPr marL="0" indent="0">
              <a:buNone/>
            </a:pPr>
            <a:r>
              <a:rPr lang="en-US" dirty="0"/>
              <a:t> \     /</a:t>
            </a:r>
          </a:p>
          <a:p>
            <a:pPr marL="0" indent="0">
              <a:buNone/>
            </a:pPr>
            <a:r>
              <a:rPr lang="en-US" dirty="0"/>
              <a:t>  C (confounder)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610308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7CC2-FDFC-6AC6-F72A-4E80EB77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Hypothesis Testing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ECE8-1416-498A-9F9B-ED017547B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Hypothesis testing helps us decide whether observed patterns in data are due to </a:t>
            </a:r>
            <a:r>
              <a:rPr lang="en-US" b="1" dirty="0"/>
              <a:t>chance</a:t>
            </a:r>
            <a:r>
              <a:rPr lang="en-US" dirty="0"/>
              <a:t> or reflect a </a:t>
            </a:r>
            <a:r>
              <a:rPr lang="en-US" b="1" dirty="0"/>
              <a:t>real effect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Scenario:</a:t>
            </a:r>
            <a:br>
              <a:rPr lang="en-US" dirty="0"/>
            </a:br>
            <a:r>
              <a:rPr lang="en-US" dirty="0"/>
              <a:t>“Did women really survive more than men by chance on the Titanic?”</a:t>
            </a:r>
          </a:p>
          <a:p>
            <a:r>
              <a:rPr lang="en-US" dirty="0"/>
              <a:t>We use hypothesis testing to </a:t>
            </a:r>
            <a:r>
              <a:rPr lang="en-US" b="1" dirty="0"/>
              <a:t>quantify</a:t>
            </a:r>
            <a:r>
              <a:rPr lang="en-US" dirty="0"/>
              <a:t> such questions.</a:t>
            </a:r>
          </a:p>
          <a:p>
            <a:pPr marL="0" indent="0">
              <a:buNone/>
            </a:pPr>
            <a:r>
              <a:rPr lang="en-US" b="1" dirty="0"/>
              <a:t>Key Terms:</a:t>
            </a:r>
            <a:endParaRPr lang="en-US" dirty="0"/>
          </a:p>
          <a:p>
            <a:r>
              <a:rPr lang="en-US" b="1" dirty="0"/>
              <a:t>Null Hypothesis (H₀):</a:t>
            </a:r>
            <a:r>
              <a:rPr lang="en-US" dirty="0"/>
              <a:t> No relationship or difference exists.</a:t>
            </a:r>
          </a:p>
          <a:p>
            <a:r>
              <a:rPr lang="en-US" b="1" dirty="0"/>
              <a:t>Alternative Hypothesis (H₁):</a:t>
            </a:r>
            <a:r>
              <a:rPr lang="en-US" dirty="0"/>
              <a:t> A relationship or difference does exist.</a:t>
            </a:r>
          </a:p>
        </p:txBody>
      </p:sp>
    </p:spTree>
    <p:extLst>
      <p:ext uri="{BB962C8B-B14F-4D97-AF65-F5344CB8AC3E}">
        <p14:creationId xmlns:p14="http://schemas.microsoft.com/office/powerpoint/2010/main" val="39397010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933E-704C-1DF4-4B9F-2C3B0E0C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Formulating the Titanic Example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C70A8-56B7-9C0B-4DE0-2EEA9060F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r>
              <a:rPr lang="en-US" b="1" dirty="0"/>
              <a:t>Question:</a:t>
            </a:r>
            <a:r>
              <a:rPr lang="en-US" dirty="0"/>
              <a:t> Does gender affect survival rate?</a:t>
            </a:r>
          </a:p>
          <a:p>
            <a:r>
              <a:rPr lang="en-US" b="1" dirty="0"/>
              <a:t>H₀:</a:t>
            </a:r>
            <a:r>
              <a:rPr lang="en-US" dirty="0"/>
              <a:t> Survival is independent of gender (any difference is random).</a:t>
            </a:r>
          </a:p>
          <a:p>
            <a:r>
              <a:rPr lang="en-US" b="1" dirty="0"/>
              <a:t>H₁:</a:t>
            </a:r>
            <a:r>
              <a:rPr lang="en-US" dirty="0"/>
              <a:t> Survival depends on gender (difference is meaningful).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Intuition:</a:t>
            </a:r>
            <a:br>
              <a:rPr lang="en-US" dirty="0"/>
            </a:br>
            <a:r>
              <a:rPr lang="en-US" dirty="0"/>
              <a:t>If we repeatedly sampled passengers, would the survival gap between men and women still appear — or was it just luck?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541867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EF33-EEBF-F816-0A5C-3BD15BEE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(Conceptual, No Math Yet)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FDE5-3C64-2AA0-CC48-B4FDCF1C9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Understanding Results:</a:t>
            </a:r>
            <a:endParaRPr lang="en-US" dirty="0"/>
          </a:p>
          <a:p>
            <a:r>
              <a:rPr lang="en-US" dirty="0"/>
              <a:t>If the observed difference is </a:t>
            </a:r>
            <a:r>
              <a:rPr lang="en-US" b="1" dirty="0"/>
              <a:t>too large</a:t>
            </a:r>
            <a:r>
              <a:rPr lang="en-US" dirty="0"/>
              <a:t> to be explained by random variation → reject H₀.</a:t>
            </a:r>
          </a:p>
          <a:p>
            <a:r>
              <a:rPr lang="en-US" dirty="0"/>
              <a:t>Otherwise, we </a:t>
            </a:r>
            <a:r>
              <a:rPr lang="en-US" b="1" dirty="0"/>
              <a:t>fail to reject H₀</a:t>
            </a:r>
            <a:r>
              <a:rPr lang="en-US" dirty="0"/>
              <a:t> (no strong evidence of an effect).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Takeaway:</a:t>
            </a:r>
            <a:endParaRPr lang="en-US" dirty="0"/>
          </a:p>
          <a:p>
            <a:r>
              <a:rPr lang="en-US" dirty="0"/>
              <a:t>Hypothesis testing helps move from </a:t>
            </a:r>
            <a:r>
              <a:rPr lang="en-US" i="1" dirty="0"/>
              <a:t>observation</a:t>
            </a:r>
            <a:r>
              <a:rPr lang="en-US" dirty="0"/>
              <a:t> (“more women survived”)</a:t>
            </a:r>
            <a:br>
              <a:rPr lang="en-US" dirty="0"/>
            </a:br>
            <a:r>
              <a:rPr lang="en-US" dirty="0"/>
              <a:t>to </a:t>
            </a:r>
            <a:r>
              <a:rPr lang="en-US" i="1" dirty="0"/>
              <a:t>inference</a:t>
            </a:r>
            <a:r>
              <a:rPr lang="en-US" dirty="0"/>
              <a:t> (“gender likely influenced survival”).</a:t>
            </a:r>
          </a:p>
          <a:p>
            <a:r>
              <a:rPr lang="en-US" dirty="0"/>
              <a:t>This sets the foundation for later statistical tests (e.g., Chi-square test).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9506777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89AD-D6C3-ECF8-63B1-F0D039C2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Two Groups — Concep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2D6D5-A220-F395-7BB0-E09D1A05F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Goal:</a:t>
            </a:r>
            <a:br>
              <a:rPr lang="en-US" dirty="0"/>
            </a:br>
            <a:r>
              <a:rPr lang="en-US" dirty="0"/>
              <a:t>Test if men and women had significantly different survival rates.</a:t>
            </a:r>
          </a:p>
          <a:p>
            <a:pPr marL="0" indent="0">
              <a:buNone/>
            </a:pPr>
            <a:r>
              <a:rPr lang="en-US" b="1" dirty="0"/>
              <a:t>Concept: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t-test</a:t>
            </a:r>
            <a:r>
              <a:rPr lang="en-US" dirty="0"/>
              <a:t> compares </a:t>
            </a:r>
            <a:r>
              <a:rPr lang="en-US" b="1" dirty="0"/>
              <a:t>means</a:t>
            </a:r>
            <a:r>
              <a:rPr lang="en-US" dirty="0"/>
              <a:t> of two independent groups to check if the difference is statistically significant (not due to random chance).</a:t>
            </a:r>
          </a:p>
          <a:p>
            <a:pPr marL="0" indent="0">
              <a:buNone/>
            </a:pPr>
            <a:r>
              <a:rPr lang="en-US" b="1" dirty="0"/>
              <a:t>Example Question:</a:t>
            </a:r>
            <a:endParaRPr lang="en-US" dirty="0"/>
          </a:p>
          <a:p>
            <a:r>
              <a:rPr lang="en-US" dirty="0"/>
              <a:t>Did women survive more than men — and was that difference likely real?</a:t>
            </a:r>
          </a:p>
        </p:txBody>
      </p:sp>
    </p:spTree>
    <p:extLst>
      <p:ext uri="{BB962C8B-B14F-4D97-AF65-F5344CB8AC3E}">
        <p14:creationId xmlns:p14="http://schemas.microsoft.com/office/powerpoint/2010/main" val="7503098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38FC-AA26-5265-64DC-90CB01FF0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t-test in Python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808E1-BC11-D08C-1B29-1CCE580C5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Code Example: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from </a:t>
            </a:r>
            <a:r>
              <a:rPr lang="en-US" dirty="0" err="1">
                <a:latin typeface="Abadi ExtraLight" panose="020B0204020104020204" pitchFamily="34" charset="0"/>
              </a:rPr>
              <a:t>scipy</a:t>
            </a:r>
            <a:r>
              <a:rPr lang="en-US" dirty="0">
                <a:latin typeface="Abadi ExtraLight" panose="020B0204020104020204" pitchFamily="34" charset="0"/>
              </a:rPr>
              <a:t> import stats</a:t>
            </a:r>
          </a:p>
          <a:p>
            <a:pPr marL="0" indent="0">
              <a:buNone/>
            </a:pPr>
            <a:endParaRPr lang="en-US" dirty="0"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male = </a:t>
            </a:r>
            <a:r>
              <a:rPr lang="en-US" dirty="0" err="1">
                <a:latin typeface="Abadi ExtraLight" panose="020B0204020104020204" pitchFamily="34" charset="0"/>
              </a:rPr>
              <a:t>df</a:t>
            </a:r>
            <a:r>
              <a:rPr lang="en-US" dirty="0">
                <a:latin typeface="Abadi ExtraLight" panose="020B0204020104020204" pitchFamily="34" charset="0"/>
              </a:rPr>
              <a:t>[</a:t>
            </a:r>
            <a:r>
              <a:rPr lang="en-US" dirty="0" err="1">
                <a:latin typeface="Abadi ExtraLight" panose="020B0204020104020204" pitchFamily="34" charset="0"/>
              </a:rPr>
              <a:t>df</a:t>
            </a:r>
            <a:r>
              <a:rPr lang="en-US" dirty="0">
                <a:latin typeface="Abadi ExtraLight" panose="020B0204020104020204" pitchFamily="34" charset="0"/>
              </a:rPr>
              <a:t>['sex'] == 'male']['survived']</a:t>
            </a:r>
          </a:p>
          <a:p>
            <a:pPr marL="0" indent="0">
              <a:buNone/>
            </a:pPr>
            <a:r>
              <a:rPr lang="en-US" dirty="0">
                <a:latin typeface="Abadi ExtraLight" panose="020B0204020104020204" pitchFamily="34" charset="0"/>
              </a:rPr>
              <a:t>female = </a:t>
            </a:r>
            <a:r>
              <a:rPr lang="en-US" dirty="0" err="1">
                <a:latin typeface="Abadi ExtraLight" panose="020B0204020104020204" pitchFamily="34" charset="0"/>
              </a:rPr>
              <a:t>df</a:t>
            </a:r>
            <a:r>
              <a:rPr lang="en-US" dirty="0">
                <a:latin typeface="Abadi ExtraLight" panose="020B0204020104020204" pitchFamily="34" charset="0"/>
              </a:rPr>
              <a:t>[</a:t>
            </a:r>
            <a:r>
              <a:rPr lang="en-US" dirty="0" err="1">
                <a:latin typeface="Abadi ExtraLight" panose="020B0204020104020204" pitchFamily="34" charset="0"/>
              </a:rPr>
              <a:t>df</a:t>
            </a:r>
            <a:r>
              <a:rPr lang="en-US" dirty="0">
                <a:latin typeface="Abadi ExtraLight" panose="020B0204020104020204" pitchFamily="34" charset="0"/>
              </a:rPr>
              <a:t>['sex'] == 'female']['survived']</a:t>
            </a:r>
          </a:p>
          <a:p>
            <a:pPr marL="0" indent="0">
              <a:buNone/>
            </a:pPr>
            <a:endParaRPr lang="en-US" dirty="0"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Abadi ExtraLight" panose="020B0204020104020204" pitchFamily="34" charset="0"/>
              </a:rPr>
              <a:t>stats.ttest_ind</a:t>
            </a:r>
            <a:r>
              <a:rPr lang="en-US" dirty="0">
                <a:latin typeface="Abadi ExtraLight" panose="020B0204020104020204" pitchFamily="34" charset="0"/>
              </a:rPr>
              <a:t>(male, female, </a:t>
            </a:r>
            <a:r>
              <a:rPr lang="en-US" dirty="0" err="1">
                <a:latin typeface="Abadi ExtraLight" panose="020B0204020104020204" pitchFamily="34" charset="0"/>
              </a:rPr>
              <a:t>nan_policy</a:t>
            </a:r>
            <a:r>
              <a:rPr lang="en-US" dirty="0">
                <a:latin typeface="Abadi ExtraLight" panose="020B0204020104020204" pitchFamily="34" charset="0"/>
              </a:rPr>
              <a:t>='omit’)</a:t>
            </a:r>
          </a:p>
          <a:p>
            <a:pPr marL="0" indent="0">
              <a:buNone/>
            </a:pPr>
            <a:endParaRPr lang="en-US" dirty="0">
              <a:latin typeface="Abadi ExtraLight" panose="020B0204020104020204" pitchFamily="34" charset="0"/>
            </a:endParaRPr>
          </a:p>
          <a:p>
            <a:pPr marL="0" indent="0">
              <a:buNone/>
            </a:pPr>
            <a:r>
              <a:rPr lang="en-US" b="1" dirty="0"/>
              <a:t>Explanation:</a:t>
            </a:r>
            <a:endParaRPr lang="en-US" dirty="0"/>
          </a:p>
          <a:p>
            <a:r>
              <a:rPr lang="en-US" dirty="0" err="1"/>
              <a:t>ttest_ind</a:t>
            </a:r>
            <a:r>
              <a:rPr lang="en-US" dirty="0"/>
              <a:t> → compares two independent samples</a:t>
            </a:r>
          </a:p>
          <a:p>
            <a:r>
              <a:rPr lang="en-US" dirty="0" err="1"/>
              <a:t>nan_policy</a:t>
            </a:r>
            <a:r>
              <a:rPr lang="en-US" dirty="0"/>
              <a:t>='omit' → ignores missing values</a:t>
            </a:r>
          </a:p>
          <a:p>
            <a:r>
              <a:rPr lang="en-US" dirty="0"/>
              <a:t>Output gives:</a:t>
            </a:r>
          </a:p>
          <a:p>
            <a:pPr lvl="1"/>
            <a:r>
              <a:rPr lang="en-US" b="1" dirty="0"/>
              <a:t>t-statistic</a:t>
            </a:r>
            <a:r>
              <a:rPr lang="en-US" dirty="0"/>
              <a:t> → how big the difference is</a:t>
            </a:r>
          </a:p>
          <a:p>
            <a:pPr lvl="1"/>
            <a:r>
              <a:rPr lang="en-US" b="1" dirty="0"/>
              <a:t>p-value</a:t>
            </a:r>
            <a:r>
              <a:rPr lang="en-US" dirty="0"/>
              <a:t> → how likely the difference is due to chance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7779789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BF5B1-38B0-7197-7C48-D5B7D0A7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Results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C18CE-6565-E733-5202-EC8F366D3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Interpretation:</a:t>
            </a:r>
            <a:endParaRPr lang="en-US" dirty="0"/>
          </a:p>
          <a:p>
            <a:r>
              <a:rPr lang="en-US" dirty="0"/>
              <a:t>If </a:t>
            </a:r>
            <a:r>
              <a:rPr lang="en-US" b="1" dirty="0"/>
              <a:t>p &lt; 0.05</a:t>
            </a:r>
            <a:r>
              <a:rPr lang="en-US" dirty="0"/>
              <a:t>, the difference is </a:t>
            </a:r>
            <a:r>
              <a:rPr lang="en-US" b="1" dirty="0"/>
              <a:t>statistically significant</a:t>
            </a:r>
            <a:br>
              <a:rPr lang="en-US" dirty="0"/>
            </a:br>
            <a:r>
              <a:rPr lang="en-US" dirty="0"/>
              <a:t>→ Survival rates for men and women are </a:t>
            </a:r>
            <a:r>
              <a:rPr lang="en-US" b="1" dirty="0"/>
              <a:t>likely different</a:t>
            </a:r>
            <a:r>
              <a:rPr lang="en-US" dirty="0"/>
              <a:t> in reality.</a:t>
            </a:r>
          </a:p>
          <a:p>
            <a:r>
              <a:rPr lang="en-US" dirty="0"/>
              <a:t>If </a:t>
            </a:r>
            <a:r>
              <a:rPr lang="en-US" b="1" dirty="0"/>
              <a:t>p ≥ 0.05</a:t>
            </a:r>
            <a:r>
              <a:rPr lang="en-US" dirty="0"/>
              <a:t>, the difference could just be </a:t>
            </a:r>
            <a:r>
              <a:rPr lang="en-US" b="1" dirty="0"/>
              <a:t>random variation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In Titanic Data:</a:t>
            </a:r>
            <a:br>
              <a:rPr lang="en-US" dirty="0"/>
            </a:br>
            <a:r>
              <a:rPr lang="en-US" dirty="0"/>
              <a:t>Women had a much higher survival rate — and a </a:t>
            </a:r>
            <a:r>
              <a:rPr lang="en-US" b="1" dirty="0"/>
              <a:t>very small p-value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confirming the difference is </a:t>
            </a:r>
            <a:r>
              <a:rPr lang="en-US" b="1" dirty="0"/>
              <a:t>real, not by chance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Takeaway:</a:t>
            </a:r>
            <a:br>
              <a:rPr lang="en-US" dirty="0"/>
            </a:br>
            <a:r>
              <a:rPr lang="en-US" dirty="0"/>
              <a:t>The t-test turns a visual observation into </a:t>
            </a:r>
            <a:r>
              <a:rPr lang="en-US" b="1" dirty="0"/>
              <a:t>statistical evidence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a bridge from </a:t>
            </a:r>
            <a:r>
              <a:rPr lang="en-US" i="1" dirty="0"/>
              <a:t>descriptive</a:t>
            </a:r>
            <a:r>
              <a:rPr lang="en-US" dirty="0"/>
              <a:t> to </a:t>
            </a:r>
            <a:r>
              <a:rPr lang="en-US" i="1" dirty="0"/>
              <a:t>inferential</a:t>
            </a:r>
            <a:r>
              <a:rPr lang="en-US" dirty="0"/>
              <a:t> analysis.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8548115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7792-D07E-01BB-9AFA-E80FA6B7F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p-value? (Concept)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BFF02-2845-9F15-4670-C638D6CA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p-value</a:t>
            </a:r>
            <a:r>
              <a:rPr lang="en-US" dirty="0"/>
              <a:t> measures how likely your observed difference could have happened </a:t>
            </a:r>
            <a:r>
              <a:rPr lang="en-US" b="1" dirty="0"/>
              <a:t>by random chance</a:t>
            </a:r>
            <a:r>
              <a:rPr lang="en-US" dirty="0"/>
              <a:t> — assuming the </a:t>
            </a:r>
            <a:r>
              <a:rPr lang="en-US" b="1" dirty="0"/>
              <a:t>null hypothesis (H₀)</a:t>
            </a:r>
            <a:r>
              <a:rPr lang="en-US" dirty="0"/>
              <a:t> is true.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Idea:</a:t>
            </a:r>
            <a:endParaRPr lang="en-US" dirty="0"/>
          </a:p>
          <a:p>
            <a:r>
              <a:rPr lang="en-US" b="1" dirty="0"/>
              <a:t>High p-value (&gt; 0.05):</a:t>
            </a:r>
            <a:r>
              <a:rPr lang="en-US" dirty="0"/>
              <a:t> Difference could be random</a:t>
            </a:r>
          </a:p>
          <a:p>
            <a:r>
              <a:rPr lang="en-US" b="1" dirty="0"/>
              <a:t>Low p-value (&lt; 0.05):</a:t>
            </a:r>
            <a:r>
              <a:rPr lang="en-US" dirty="0"/>
              <a:t> Unlikely due to chance → likely a real effect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Analogy:</a:t>
            </a:r>
            <a:br>
              <a:rPr lang="en-US" dirty="0"/>
            </a:br>
            <a:r>
              <a:rPr lang="en-US" dirty="0"/>
              <a:t>Think of it as the </a:t>
            </a:r>
            <a:r>
              <a:rPr lang="en-US" i="1" dirty="0"/>
              <a:t>probability of surprise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“How surprised should we be if nothing’s really different?”</a:t>
            </a:r>
          </a:p>
        </p:txBody>
      </p:sp>
    </p:spTree>
    <p:extLst>
      <p:ext uri="{BB962C8B-B14F-4D97-AF65-F5344CB8AC3E}">
        <p14:creationId xmlns:p14="http://schemas.microsoft.com/office/powerpoint/2010/main" val="24170613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A18F-40DC-E178-D4D9-F8104647E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Understanding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C739-80B7-F44E-8A4D-FA156BCBA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277"/>
            <a:ext cx="10515600" cy="46646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Visual:</a:t>
            </a:r>
            <a:r>
              <a:rPr lang="en-US" dirty="0"/>
              <a:t> Two overlapping bell curves</a:t>
            </a:r>
          </a:p>
          <a:p>
            <a:r>
              <a:rPr lang="en-US" dirty="0"/>
              <a:t>One curve = Group A (e.g., men’s survival)</a:t>
            </a:r>
          </a:p>
          <a:p>
            <a:r>
              <a:rPr lang="en-US" dirty="0"/>
              <a:t>Other curve = Group B (e.g., women’s survival)</a:t>
            </a:r>
          </a:p>
          <a:p>
            <a:r>
              <a:rPr lang="en-US" b="1" dirty="0"/>
              <a:t>Overlap area = p-value region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Interpretation:</a:t>
            </a:r>
            <a:br>
              <a:rPr lang="en-US" dirty="0"/>
            </a:br>
            <a:r>
              <a:rPr lang="en-US" dirty="0"/>
              <a:t>If the overlap (p-value) is </a:t>
            </a:r>
            <a:r>
              <a:rPr lang="en-US" b="1" dirty="0"/>
              <a:t>small</a:t>
            </a:r>
            <a:r>
              <a:rPr lang="en-US" dirty="0"/>
              <a:t>, the two groups are </a:t>
            </a:r>
            <a:r>
              <a:rPr lang="en-US" b="1" dirty="0"/>
              <a:t>different enough</a:t>
            </a:r>
            <a:r>
              <a:rPr lang="en-US" dirty="0"/>
              <a:t> that the difference is statistically meaningful.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sns.kdeplot</a:t>
            </a:r>
            <a:r>
              <a:rPr lang="en-US" dirty="0"/>
              <a:t>(male, label='Male')</a:t>
            </a:r>
          </a:p>
          <a:p>
            <a:pPr marL="0" indent="0">
              <a:buNone/>
            </a:pPr>
            <a:r>
              <a:rPr lang="en-US" dirty="0" err="1"/>
              <a:t>sns.kdeplot</a:t>
            </a:r>
            <a:r>
              <a:rPr lang="en-US" dirty="0"/>
              <a:t>(female, label='Female')</a:t>
            </a:r>
          </a:p>
          <a:p>
            <a:pPr marL="0" indent="0">
              <a:buNone/>
            </a:pPr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7533325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8F22-9C48-80B3-67F1-4A8BFC3E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Rule &amp; Interpretation</a:t>
            </a:r>
            <a:endParaRPr lang="en-ZM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A1F3CA-6063-0E5D-5363-05360E017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080049"/>
              </p:ext>
            </p:extLst>
          </p:nvPr>
        </p:nvGraphicFramePr>
        <p:xfrm>
          <a:off x="697523" y="2316480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5277487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169897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14733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189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 &lt; 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Reject H₀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Significant difference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463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 ≥ 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 to reject H₀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significant difference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4884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CB0756-4CAE-8FD6-ABFC-66CB6AF55CC7}"/>
              </a:ext>
            </a:extLst>
          </p:cNvPr>
          <p:cNvSpPr txBox="1"/>
          <p:nvPr/>
        </p:nvSpPr>
        <p:spPr>
          <a:xfrm>
            <a:off x="697523" y="1818918"/>
            <a:ext cx="361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 Rule:</a:t>
            </a:r>
            <a:endParaRPr lang="en-ZM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2FA8B1-2565-88A3-DA75-8F6A6EAF75B0}"/>
              </a:ext>
            </a:extLst>
          </p:cNvPr>
          <p:cNvSpPr txBox="1"/>
          <p:nvPr/>
        </p:nvSpPr>
        <p:spPr>
          <a:xfrm>
            <a:off x="697522" y="4054792"/>
            <a:ext cx="9208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(Titanic):</a:t>
            </a:r>
            <a:br>
              <a:rPr lang="en-US" dirty="0"/>
            </a:br>
            <a:r>
              <a:rPr lang="en-US" dirty="0"/>
              <a:t>If p = 0.001 → Women’s higher survival rate is </a:t>
            </a:r>
            <a:r>
              <a:rPr lang="en-US" b="1" dirty="0"/>
              <a:t>very unlikely by chance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We reject H₀</a:t>
            </a:r>
            <a:r>
              <a:rPr lang="en-US" dirty="0"/>
              <a:t> → Gender mattered in survival outcomes.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600339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032B8-4710-0D10-D3B2-2BBDE752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Meaning of a p-value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47221-F1B3-9527-E1FA-85976239C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394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Concept Recap</a:t>
            </a:r>
          </a:p>
          <a:p>
            <a:r>
              <a:rPr lang="en-US" dirty="0"/>
              <a:t>Each curve shows the </a:t>
            </a:r>
            <a:r>
              <a:rPr lang="en-US" b="1" dirty="0"/>
              <a:t>distribution of survival rates</a:t>
            </a:r>
            <a:r>
              <a:rPr lang="en-US" dirty="0"/>
              <a:t> (simulated for men vs women).</a:t>
            </a:r>
          </a:p>
          <a:p>
            <a:r>
              <a:rPr lang="en-US" dirty="0"/>
              <a:t>The </a:t>
            </a:r>
            <a:r>
              <a:rPr lang="en-US" b="1" dirty="0"/>
              <a:t>shaded overlap</a:t>
            </a:r>
            <a:r>
              <a:rPr lang="en-US" dirty="0"/>
              <a:t> area represents where the two groups’ values are </a:t>
            </a:r>
            <a:r>
              <a:rPr lang="en-US" b="1" dirty="0"/>
              <a:t>not significantly different</a:t>
            </a:r>
            <a:r>
              <a:rPr lang="en-US" dirty="0"/>
              <a:t> — the p-value region.</a:t>
            </a:r>
          </a:p>
          <a:p>
            <a:r>
              <a:rPr lang="en-US" dirty="0"/>
              <a:t>When this overlap is small (p &lt; 0.05), we conclude that the difference is </a:t>
            </a:r>
            <a:r>
              <a:rPr lang="en-US" b="1" dirty="0"/>
              <a:t>statistically significant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ZM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C4F1BB-53B1-433D-F517-C63142240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01625"/>
            <a:ext cx="11870557" cy="12003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“The more these curves overlap, the higher the p-value — meaning less evidence of a real difference.”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“If the curves are far apart (small overlap), the p-value becomes small — evidence the groups differ.”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“We don’t ‘prove’ anything with a p-value; we just assess whether the observed difference is likely due to chance.”</a:t>
            </a:r>
          </a:p>
        </p:txBody>
      </p:sp>
    </p:spTree>
    <p:extLst>
      <p:ext uri="{BB962C8B-B14F-4D97-AF65-F5344CB8AC3E}">
        <p14:creationId xmlns:p14="http://schemas.microsoft.com/office/powerpoint/2010/main" val="16651289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21F6-6813-3878-9B80-565E2FD2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460"/>
          </a:xfrm>
        </p:spPr>
        <p:txBody>
          <a:bodyPr/>
          <a:lstStyle/>
          <a:p>
            <a:r>
              <a:rPr lang="en-US" b="1" dirty="0"/>
              <a:t>Python Demo Code (Interactive Visual)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E0977-1E19-71E2-9EEE-5D0397CB1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031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scipy</a:t>
            </a:r>
            <a:r>
              <a:rPr lang="en-US" dirty="0"/>
              <a:t> import stats</a:t>
            </a:r>
          </a:p>
          <a:p>
            <a:pPr marL="0" indent="0">
              <a:buNone/>
            </a:pPr>
            <a:r>
              <a:rPr lang="en-US" dirty="0"/>
              <a:t># Generate two simulated groups (e.g., survival scores)</a:t>
            </a:r>
          </a:p>
          <a:p>
            <a:pPr marL="0" indent="0">
              <a:buNone/>
            </a:pPr>
            <a:r>
              <a:rPr lang="en-US" dirty="0" err="1"/>
              <a:t>np.random.seed</a:t>
            </a:r>
            <a:r>
              <a:rPr lang="en-US" dirty="0"/>
              <a:t>(42)</a:t>
            </a:r>
          </a:p>
          <a:p>
            <a:pPr marL="0" indent="0">
              <a:buNone/>
            </a:pPr>
            <a:r>
              <a:rPr lang="en-US" dirty="0"/>
              <a:t>male = </a:t>
            </a:r>
            <a:r>
              <a:rPr lang="en-US" dirty="0" err="1"/>
              <a:t>np.random.normal</a:t>
            </a:r>
            <a:r>
              <a:rPr lang="en-US" dirty="0"/>
              <a:t>(0.45, 0.10, 200)     # mean 45%, some spread</a:t>
            </a:r>
          </a:p>
          <a:p>
            <a:pPr marL="0" indent="0">
              <a:buNone/>
            </a:pPr>
            <a:r>
              <a:rPr lang="en-US" dirty="0"/>
              <a:t>female = </a:t>
            </a:r>
            <a:r>
              <a:rPr lang="en-US" dirty="0" err="1"/>
              <a:t>np.random.normal</a:t>
            </a:r>
            <a:r>
              <a:rPr lang="en-US" dirty="0"/>
              <a:t>(0.70, 0.10, 200)   # mean 70%, some spread</a:t>
            </a:r>
          </a:p>
          <a:p>
            <a:pPr marL="0" indent="0">
              <a:buNone/>
            </a:pPr>
            <a:r>
              <a:rPr lang="en-US" dirty="0"/>
              <a:t># Conduct t-test</a:t>
            </a:r>
          </a:p>
          <a:p>
            <a:pPr marL="0" indent="0">
              <a:buNone/>
            </a:pPr>
            <a:r>
              <a:rPr lang="en-US" dirty="0" err="1"/>
              <a:t>t_stat</a:t>
            </a:r>
            <a:r>
              <a:rPr lang="en-US" dirty="0"/>
              <a:t>, </a:t>
            </a:r>
            <a:r>
              <a:rPr lang="en-US" dirty="0" err="1"/>
              <a:t>p_value</a:t>
            </a:r>
            <a:r>
              <a:rPr lang="en-US" dirty="0"/>
              <a:t> = </a:t>
            </a:r>
            <a:r>
              <a:rPr lang="en-US" dirty="0" err="1"/>
              <a:t>stats.ttest_ind</a:t>
            </a:r>
            <a:r>
              <a:rPr lang="en-US" dirty="0"/>
              <a:t>(male, female)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f"t</a:t>
            </a:r>
            <a:r>
              <a:rPr lang="en-US" dirty="0"/>
              <a:t>-statistic = {t_stat:.2f}, p-value = {p_value:.4f}")</a:t>
            </a:r>
          </a:p>
          <a:p>
            <a:pPr marL="0" indent="0">
              <a:buNone/>
            </a:pPr>
            <a:r>
              <a:rPr lang="en-US" dirty="0"/>
              <a:t># Plot overlapping distributions</a:t>
            </a:r>
          </a:p>
          <a:p>
            <a:pPr marL="0" indent="0">
              <a:buNone/>
            </a:pPr>
            <a:r>
              <a:rPr lang="en-US" dirty="0" err="1"/>
              <a:t>sns.kdeplot</a:t>
            </a:r>
            <a:r>
              <a:rPr lang="en-US" dirty="0"/>
              <a:t>(male, label='Male', fill=True, alpha=0.4)</a:t>
            </a:r>
          </a:p>
          <a:p>
            <a:pPr marL="0" indent="0">
              <a:buNone/>
            </a:pPr>
            <a:r>
              <a:rPr lang="en-US" dirty="0" err="1"/>
              <a:t>sns.kdeplot</a:t>
            </a:r>
            <a:r>
              <a:rPr lang="en-US" dirty="0"/>
              <a:t>(female, label='Female', fill=True, alpha=0.4)</a:t>
            </a:r>
          </a:p>
          <a:p>
            <a:pPr marL="0" indent="0">
              <a:buNone/>
            </a:pPr>
            <a:r>
              <a:rPr lang="en-US" dirty="0"/>
              <a:t># Annotate chart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</a:t>
            </a:r>
            <a:r>
              <a:rPr lang="en-US" dirty="0" err="1"/>
              <a:t>f"Visualizing</a:t>
            </a:r>
            <a:r>
              <a:rPr lang="en-US" dirty="0"/>
              <a:t> p-value (p = {p_value:.4f})")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('Survival Rate')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('Density')</a:t>
            </a:r>
          </a:p>
          <a:p>
            <a:pPr marL="0" indent="0">
              <a:buNone/>
            </a:pPr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# Highlight p-value interpretation zone</a:t>
            </a:r>
          </a:p>
          <a:p>
            <a:pPr marL="0" indent="0">
              <a:buNone/>
            </a:pPr>
            <a:r>
              <a:rPr lang="en-US" dirty="0" err="1"/>
              <a:t>plt.text</a:t>
            </a:r>
            <a:r>
              <a:rPr lang="en-US" dirty="0"/>
              <a:t>(0.5, 2.0, "Overlap = possible by chance (p-value region)", </a:t>
            </a:r>
            <a:r>
              <a:rPr lang="en-US" dirty="0" err="1"/>
              <a:t>fontsize</a:t>
            </a:r>
            <a:r>
              <a:rPr lang="en-US" dirty="0"/>
              <a:t>=10, color='gray')</a:t>
            </a:r>
          </a:p>
          <a:p>
            <a:pPr marL="0" indent="0">
              <a:buNone/>
            </a:pPr>
            <a:r>
              <a:rPr lang="en-US" dirty="0" err="1"/>
              <a:t>plt.text</a:t>
            </a:r>
            <a:r>
              <a:rPr lang="en-US" dirty="0"/>
              <a:t>(0.72, 1.5, "Separated = likely real difference", </a:t>
            </a:r>
            <a:r>
              <a:rPr lang="en-US" dirty="0" err="1"/>
              <a:t>fontsize</a:t>
            </a:r>
            <a:r>
              <a:rPr lang="en-US" dirty="0"/>
              <a:t>=10, color='</a:t>
            </a:r>
            <a:r>
              <a:rPr lang="en-US" dirty="0" err="1"/>
              <a:t>darkgreen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1377681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CF3D7-366E-D1AA-1345-25B0698D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…..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C7966-5722-CDB1-8631-6F89619DD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Slide Summary</a:t>
            </a:r>
          </a:p>
          <a:p>
            <a:r>
              <a:rPr lang="en-US" b="1" dirty="0"/>
              <a:t>p-value &lt; 0.05:</a:t>
            </a:r>
            <a:r>
              <a:rPr lang="en-US" dirty="0"/>
              <a:t> Overlap small → difference is statistically significant</a:t>
            </a:r>
          </a:p>
          <a:p>
            <a:r>
              <a:rPr lang="en-US" b="1" dirty="0"/>
              <a:t>p-value ≥ 0.05:</a:t>
            </a:r>
            <a:r>
              <a:rPr lang="en-US" dirty="0"/>
              <a:t> Overlap large → difference could be random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3369655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7EE33-05D0-5966-0B10-D6711F70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85C552-B264-F1CC-0B49-1E3EDF7D16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4"/>
            <a:ext cx="75438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data before analysis</a:t>
            </a:r>
            <a:endParaRPr kumimoji="0" lang="en-US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variable relationships</a:t>
            </a:r>
            <a:endParaRPr kumimoji="0" lang="en-US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 connects data → inference</a:t>
            </a:r>
            <a:endParaRPr kumimoji="0" lang="en-US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Hypothesis testing formalizes findings</a:t>
            </a:r>
          </a:p>
        </p:txBody>
      </p:sp>
    </p:spTree>
    <p:extLst>
      <p:ext uri="{BB962C8B-B14F-4D97-AF65-F5344CB8AC3E}">
        <p14:creationId xmlns:p14="http://schemas.microsoft.com/office/powerpoint/2010/main" val="3838040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4625</Words>
  <Application>Microsoft Office PowerPoint</Application>
  <PresentationFormat>Widescreen</PresentationFormat>
  <Paragraphs>785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 Unicode MS</vt:lpstr>
      <vt:lpstr>Abadi ExtraLight</vt:lpstr>
      <vt:lpstr>Aptos</vt:lpstr>
      <vt:lpstr>Aptos Display</vt:lpstr>
      <vt:lpstr>Arial</vt:lpstr>
      <vt:lpstr>Courier New</vt:lpstr>
      <vt:lpstr>Office Theme</vt:lpstr>
      <vt:lpstr>Data Analysis with Python</vt:lpstr>
      <vt:lpstr>Topics:</vt:lpstr>
      <vt:lpstr>Why Clean Data Matters</vt:lpstr>
      <vt:lpstr>Why Clean Data Matters</vt:lpstr>
      <vt:lpstr>Detecting Missing &amp; Extreme Values</vt:lpstr>
      <vt:lpstr>….</vt:lpstr>
      <vt:lpstr>Handling Missing Values</vt:lpstr>
      <vt:lpstr>Detecting Outliers (IQR Method)</vt:lpstr>
      <vt:lpstr>Understanding Outliers and the IQR Method</vt:lpstr>
      <vt:lpstr>Understanding Outliers and the IQR Method</vt:lpstr>
      <vt:lpstr>Detecting Outliers — Code &amp; Visualization</vt:lpstr>
      <vt:lpstr>Visualizing Outliers:</vt:lpstr>
      <vt:lpstr>Crosstab Analysis</vt:lpstr>
      <vt:lpstr>Normalizing Crosstabs — Proportion Analysis</vt:lpstr>
      <vt:lpstr>Crosstab with Multiple Variables &amp; Visualization</vt:lpstr>
      <vt:lpstr>Visualizing Crosstab</vt:lpstr>
      <vt:lpstr>Grouping and Aggregation</vt:lpstr>
      <vt:lpstr>Aggregating Multiple Metrics</vt:lpstr>
      <vt:lpstr>Multiple Functions per Column + Visualization </vt:lpstr>
      <vt:lpstr>…….</vt:lpstr>
      <vt:lpstr>Analyzing Categorical Distributions </vt:lpstr>
      <vt:lpstr>Visualizing Categorical Counts</vt:lpstr>
      <vt:lpstr>Comparing Categories by Outcome</vt:lpstr>
      <vt:lpstr>Comparing Two Numerical Variables</vt:lpstr>
      <vt:lpstr>Visualizing Relationships — Scatter Plot with Regression</vt:lpstr>
      <vt:lpstr>Interpreting the Relationship</vt:lpstr>
      <vt:lpstr>PowerPoint Presentation</vt:lpstr>
      <vt:lpstr>Covariance vs Correlation</vt:lpstr>
      <vt:lpstr>Probability Refresher</vt:lpstr>
      <vt:lpstr>Probability Distributions</vt:lpstr>
      <vt:lpstr>Standard Normal Distribution &amp; z-scores</vt:lpstr>
      <vt:lpstr>.. Standard Normal Distribution &amp; z-scores</vt:lpstr>
      <vt:lpstr>Visualizing Standardized Data</vt:lpstr>
      <vt:lpstr>Detecting Outliers Using Z-scores</vt:lpstr>
      <vt:lpstr>…..</vt:lpstr>
      <vt:lpstr>Introduction to Central Limit Theorem (CLT)</vt:lpstr>
      <vt:lpstr>Demonstrating the CLT in Python</vt:lpstr>
      <vt:lpstr>.. Demonstrating the CLT in Python</vt:lpstr>
      <vt:lpstr>Why the CLT is Important</vt:lpstr>
      <vt:lpstr>Correlation vs. Causation – The Core Idea</vt:lpstr>
      <vt:lpstr>Understanding Confounding Variables</vt:lpstr>
      <vt:lpstr>…Understanding Confounding Variables</vt:lpstr>
      <vt:lpstr>Why This Matters in Data Analysis</vt:lpstr>
      <vt:lpstr>Introduction to Hypothesis Testing</vt:lpstr>
      <vt:lpstr>Formulating the Titanic Example</vt:lpstr>
      <vt:lpstr>Interpretation (Conceptual, No Math Yet)</vt:lpstr>
      <vt:lpstr>Comparing Two Groups — Concep</vt:lpstr>
      <vt:lpstr>Running the t-test in Python</vt:lpstr>
      <vt:lpstr>Interpreting the Results</vt:lpstr>
      <vt:lpstr>What is a p-value? (Concept)</vt:lpstr>
      <vt:lpstr>Visual Understanding</vt:lpstr>
      <vt:lpstr>Decision Rule &amp; Interpretation</vt:lpstr>
      <vt:lpstr>Visualizing the Meaning of a p-value</vt:lpstr>
      <vt:lpstr>Python Demo Code (Interactive Visual)</vt:lpstr>
      <vt:lpstr>…..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Mutale CHILANDO</dc:creator>
  <cp:lastModifiedBy>Mutale CHILANDO</cp:lastModifiedBy>
  <cp:revision>67</cp:revision>
  <dcterms:created xsi:type="dcterms:W3CDTF">2025-11-04T11:39:33Z</dcterms:created>
  <dcterms:modified xsi:type="dcterms:W3CDTF">2025-11-07T12:56:26Z</dcterms:modified>
</cp:coreProperties>
</file>