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67" r:id="rId4"/>
    <p:sldId id="268" r:id="rId5"/>
    <p:sldId id="269" r:id="rId6"/>
    <p:sldId id="270" r:id="rId7"/>
    <p:sldId id="292" r:id="rId8"/>
    <p:sldId id="258" r:id="rId9"/>
    <p:sldId id="272" r:id="rId10"/>
    <p:sldId id="273" r:id="rId11"/>
    <p:sldId id="275" r:id="rId12"/>
    <p:sldId id="274" r:id="rId13"/>
    <p:sldId id="277" r:id="rId14"/>
    <p:sldId id="276" r:id="rId15"/>
    <p:sldId id="278" r:id="rId16"/>
    <p:sldId id="279" r:id="rId17"/>
    <p:sldId id="280" r:id="rId18"/>
    <p:sldId id="259" r:id="rId19"/>
    <p:sldId id="260" r:id="rId20"/>
    <p:sldId id="282" r:id="rId21"/>
    <p:sldId id="283" r:id="rId22"/>
    <p:sldId id="261" r:id="rId23"/>
    <p:sldId id="284" r:id="rId24"/>
    <p:sldId id="262" r:id="rId25"/>
    <p:sldId id="285" r:id="rId26"/>
    <p:sldId id="286" r:id="rId27"/>
    <p:sldId id="263" r:id="rId28"/>
    <p:sldId id="287" r:id="rId29"/>
    <p:sldId id="264" r:id="rId30"/>
    <p:sldId id="288" r:id="rId31"/>
    <p:sldId id="289" r:id="rId32"/>
    <p:sldId id="290" r:id="rId33"/>
    <p:sldId id="265" r:id="rId34"/>
    <p:sldId id="291" r:id="rId35"/>
    <p:sldId id="266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 snapToObjects="1">
      <p:cViewPr>
        <p:scale>
          <a:sx n="80" d="100"/>
          <a:sy n="80" d="100"/>
        </p:scale>
        <p:origin x="648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29A82-C0E0-495F-80D0-3C25E087FE19}" type="datetimeFigureOut">
              <a:rPr lang="en-ZM" smtClean="0"/>
              <a:t>03/11/2025</a:t>
            </a:fld>
            <a:endParaRPr lang="en-Z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A1F5B-1905-4DB1-B858-ADE37875CACC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49989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asking students: Why do you think EDA is important?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what each statistic tells us about the data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“Variance tells us how far the data points are from the mean on average, but it’s in squared units.”</a:t>
            </a:r>
          </a:p>
          <a:p>
            <a:r>
              <a:rPr lang="en-US" dirty="0"/>
              <a:t>“Standard deviation puts it back in the original units, making it easier to interpret.”</a:t>
            </a:r>
          </a:p>
          <a:p>
            <a:r>
              <a:rPr lang="en-US" dirty="0"/>
              <a:t>“High SD → data is more spread out; Low SD → data is tightly clustered around the mean.”</a:t>
            </a:r>
          </a:p>
          <a:p>
            <a:endParaRPr lang="en-Z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A1F5B-1905-4DB1-B858-ADE37875CACC}" type="slidenum">
              <a:rPr lang="en-ZM" smtClean="0"/>
              <a:t>12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114660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demo: Show df.describe() and ask learners what insights they 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Discuss: What variables are strongly correlated? Remind that correlation ≠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What patterns can you see in age distribution between survivors and non-survivors?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70D7-400D-2AEA-E894-2A07A31A5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5C5C8-269C-E9BB-ACEC-D1F244001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6B51B-ABC7-4E0A-E64E-06DC75890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What patterns can you see in age distribution between survivors and non-survivors?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AFFC0-CBC7-8593-6ACE-4D410F414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99726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Interactive discussion: What can scatter plots reveal that summary stats cannot?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how groupby helps summarize data by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z-scores and why normality matters in statistical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Guide students to explore patterns and discuss real-world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reflection and invite learners to share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30" y="2767106"/>
            <a:ext cx="2160621" cy="3071906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Week 7: Exploratory Data Analysis (EDA) and Basic Statistical Concepts</a:t>
            </a:r>
          </a:p>
        </p:txBody>
      </p:sp>
      <p:pic>
        <p:nvPicPr>
          <p:cNvPr id="5" name="Picture 4" descr="A black graduation cap with a globe and blue text">
            <a:extLst>
              <a:ext uri="{FF2B5EF4-FFF2-40B4-BE49-F238E27FC236}">
                <a16:creationId xmlns:a16="http://schemas.microsoft.com/office/drawing/2014/main" id="{F60DFB61-0136-E0C4-7981-25595FA114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5438"/>
          <a:stretch>
            <a:fillRect/>
          </a:stretch>
        </p:blipFill>
        <p:spPr>
          <a:xfrm>
            <a:off x="3376821" y="866618"/>
            <a:ext cx="5419311" cy="51247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943" y="991261"/>
            <a:ext cx="4316022" cy="1837349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1. What is Exploratory Data Analysis (EDA)?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7809" y="2979336"/>
            <a:ext cx="4282290" cy="24308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</a:rPr>
              <a:t>Core Definition</a:t>
            </a:r>
          </a:p>
          <a:p>
            <a:r>
              <a:rPr lang="en-US" sz="1700">
                <a:solidFill>
                  <a:schemeClr val="tx2"/>
                </a:solidFill>
              </a:rPr>
              <a:t>Exploratory Data Analysis (EDA) is the process of </a:t>
            </a:r>
            <a:r>
              <a:rPr lang="en-US" sz="1700" b="1">
                <a:solidFill>
                  <a:schemeClr val="tx2"/>
                </a:solidFill>
              </a:rPr>
              <a:t>examining and summarizing datasets</a:t>
            </a:r>
            <a:r>
              <a:rPr lang="en-US" sz="1700">
                <a:solidFill>
                  <a:schemeClr val="tx2"/>
                </a:solidFill>
              </a:rPr>
              <a:t> to understand their key characteristics </a:t>
            </a:r>
            <a:r>
              <a:rPr lang="en-US" sz="1700" b="1">
                <a:solidFill>
                  <a:schemeClr val="tx2"/>
                </a:solidFill>
              </a:rPr>
              <a:t>before applying formal models</a:t>
            </a:r>
            <a:r>
              <a:rPr lang="en-US" sz="1700">
                <a:solidFill>
                  <a:schemeClr val="tx2"/>
                </a:solidFill>
              </a:rPr>
              <a:t> or algorithms.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4" y="4001437"/>
            <a:ext cx="3655725" cy="2057400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75D85-3843-7E75-3F2E-10ED4C86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What is EDA continued…</a:t>
            </a:r>
            <a:endParaRPr lang="en-ZM" sz="31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D3A0-6040-ACBA-F409-75D3DF58A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</a:rPr>
              <a:t>Key Purposes</a:t>
            </a:r>
          </a:p>
          <a:p>
            <a:r>
              <a:rPr lang="en-US" sz="1600" b="1">
                <a:solidFill>
                  <a:schemeClr val="tx2"/>
                </a:solidFill>
              </a:rPr>
              <a:t>Understand your data</a:t>
            </a:r>
            <a:r>
              <a:rPr lang="en-US" sz="1600">
                <a:solidFill>
                  <a:schemeClr val="tx2"/>
                </a:solidFill>
              </a:rPr>
              <a:t> — shape, size, and structure (rows, columns, data types).</a:t>
            </a:r>
          </a:p>
          <a:p>
            <a:r>
              <a:rPr lang="en-US" sz="1600" b="1">
                <a:solidFill>
                  <a:schemeClr val="tx2"/>
                </a:solidFill>
              </a:rPr>
              <a:t>Identify data quality issues</a:t>
            </a:r>
            <a:r>
              <a:rPr lang="en-US" sz="1600">
                <a:solidFill>
                  <a:schemeClr val="tx2"/>
                </a:solidFill>
              </a:rPr>
              <a:t> — missing values, duplicates, outliers, or inconsistent entries.</a:t>
            </a:r>
          </a:p>
          <a:p>
            <a:r>
              <a:rPr lang="en-US" sz="1600" b="1">
                <a:solidFill>
                  <a:schemeClr val="tx2"/>
                </a:solidFill>
              </a:rPr>
              <a:t>Explore relationships</a:t>
            </a:r>
            <a:r>
              <a:rPr lang="en-US" sz="1600">
                <a:solidFill>
                  <a:schemeClr val="tx2"/>
                </a:solidFill>
              </a:rPr>
              <a:t> — detect trends, correlations, and patterns between variables.</a:t>
            </a:r>
          </a:p>
          <a:p>
            <a:r>
              <a:rPr lang="en-US" sz="1600" b="1">
                <a:solidFill>
                  <a:schemeClr val="tx2"/>
                </a:solidFill>
              </a:rPr>
              <a:t>Guide next steps</a:t>
            </a:r>
            <a:r>
              <a:rPr lang="en-US" sz="1600">
                <a:solidFill>
                  <a:schemeClr val="tx2"/>
                </a:solidFill>
              </a:rPr>
              <a:t> — EDA informs decisions on feature engineering, transformations, and modeling approaches.</a:t>
            </a:r>
          </a:p>
          <a:p>
            <a:endParaRPr lang="en-ZM" sz="16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4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F37DA-06E4-3AA3-C8F5-069DBB7A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594707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What is EDA continued</a:t>
            </a:r>
            <a:endParaRPr lang="en-ZM" sz="31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509575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C368-D369-181A-F7D4-152EDB144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3329677"/>
            <a:ext cx="7375161" cy="2457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</a:rPr>
              <a:t>EDA Involves</a:t>
            </a:r>
          </a:p>
          <a:p>
            <a:r>
              <a:rPr lang="en-US" sz="1600" b="1">
                <a:solidFill>
                  <a:schemeClr val="tx2"/>
                </a:solidFill>
              </a:rPr>
              <a:t>Summarization:</a:t>
            </a:r>
            <a:r>
              <a:rPr lang="en-US" sz="1600">
                <a:solidFill>
                  <a:schemeClr val="tx2"/>
                </a:solidFill>
              </a:rPr>
              <a:t> Using descriptive statistics (mean, median, mode, variance).</a:t>
            </a:r>
          </a:p>
          <a:p>
            <a:r>
              <a:rPr lang="en-US" sz="1600" b="1">
                <a:solidFill>
                  <a:schemeClr val="tx2"/>
                </a:solidFill>
              </a:rPr>
              <a:t>Visualization:</a:t>
            </a:r>
            <a:r>
              <a:rPr lang="en-US" sz="1600">
                <a:solidFill>
                  <a:schemeClr val="tx2"/>
                </a:solidFill>
              </a:rPr>
              <a:t> Graphical tools like histograms, box plots, scatter plots, and correlation heatmaps.</a:t>
            </a:r>
          </a:p>
          <a:p>
            <a:r>
              <a:rPr lang="en-US" sz="1600" b="1">
                <a:solidFill>
                  <a:schemeClr val="tx2"/>
                </a:solidFill>
              </a:rPr>
              <a:t>Pattern Discovery:</a:t>
            </a:r>
            <a:r>
              <a:rPr lang="en-US" sz="1600">
                <a:solidFill>
                  <a:schemeClr val="tx2"/>
                </a:solidFill>
              </a:rPr>
              <a:t> Spotting relationships, anomalies, or clusters that might influence analysis.</a:t>
            </a:r>
          </a:p>
          <a:p>
            <a:endParaRPr lang="en-ZM" sz="16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9752" y="4030420"/>
            <a:ext cx="3878664" cy="1776494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473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99560-2672-D736-DDDB-A2551A76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A3526-5AF2-B791-8DA9-84B1C6ED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What is EDA continued</a:t>
            </a:r>
            <a:endParaRPr lang="en-ZM" sz="31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E01C9-C129-753D-430C-A2500B621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Example</a:t>
            </a:r>
          </a:p>
          <a:p>
            <a:r>
              <a:rPr lang="en-US" sz="1600" dirty="0">
                <a:solidFill>
                  <a:schemeClr val="tx2"/>
                </a:solidFill>
              </a:rPr>
              <a:t>Before predicting student performance, we first </a:t>
            </a:r>
            <a:r>
              <a:rPr lang="en-US" sz="1600" b="1" dirty="0">
                <a:solidFill>
                  <a:schemeClr val="tx2"/>
                </a:solidFill>
              </a:rPr>
              <a:t>explore the dataset</a:t>
            </a:r>
            <a:r>
              <a:rPr lang="en-US" sz="1600" dirty="0">
                <a:solidFill>
                  <a:schemeClr val="tx2"/>
                </a:solidFill>
              </a:rPr>
              <a:t>:</a:t>
            </a:r>
          </a:p>
          <a:p>
            <a:r>
              <a:rPr lang="en-US" sz="1600" dirty="0">
                <a:solidFill>
                  <a:schemeClr val="tx2"/>
                </a:solidFill>
              </a:rPr>
              <a:t>Check if all subjects have the same grading scale.</a:t>
            </a:r>
          </a:p>
          <a:p>
            <a:r>
              <a:rPr lang="en-US" sz="1600" dirty="0">
                <a:solidFill>
                  <a:schemeClr val="tx2"/>
                </a:solidFill>
              </a:rPr>
              <a:t>Find outliers (e.g., scores above 100).</a:t>
            </a:r>
          </a:p>
          <a:p>
            <a:r>
              <a:rPr lang="en-US" sz="1600" dirty="0">
                <a:solidFill>
                  <a:schemeClr val="tx2"/>
                </a:solidFill>
              </a:rPr>
              <a:t>Identify missing attendance records.</a:t>
            </a:r>
          </a:p>
          <a:p>
            <a:r>
              <a:rPr lang="en-US" sz="1600" dirty="0">
                <a:solidFill>
                  <a:schemeClr val="tx2"/>
                </a:solidFill>
              </a:rPr>
              <a:t>Visualize score distributions across gender.</a:t>
            </a:r>
          </a:p>
          <a:p>
            <a:endParaRPr lang="en-ZM" sz="16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6579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A33-833B-415F-1E21-322589DFE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0097"/>
          </a:xfrm>
        </p:spPr>
        <p:txBody>
          <a:bodyPr>
            <a:normAutofit fontScale="90000"/>
          </a:bodyPr>
          <a:lstStyle/>
          <a:p>
            <a:r>
              <a:rPr lang="en-US" b="1"/>
              <a:t>Why EDA is Important</a:t>
            </a:r>
            <a:br>
              <a:rPr lang="en-US" b="1"/>
            </a:b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275A61-0588-E18A-3810-16A62C2A6C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862363"/>
            <a:ext cx="9147399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Data Quality Issues: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missing values, errors, duplicates, or outliers early.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Data Distribution: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whether variables are normal, skewed, categorical, or continuous.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 Relationships Between Variables: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correlations, patterns, or associations that inform analysis or modelling.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 Data Cleaning and Transformation: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 on normalization, scaling, encoding, or imputing based on data behaviour.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 Modelling Choices: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select appropriate models and features for predictive or descriptive analysis.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Initial Insights: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preliminary answers and helps form hypotheses for deeper analysis.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Communicate Findings Effectively: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from EDA make complex data understandable for stakeholders.</a:t>
            </a:r>
            <a:endParaRPr kumimoji="0" lang="en-US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Risk of Misinterpretation:</a:t>
            </a: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prevent making decisions based on unclean or misunderstood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M" altLang="en-ZM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9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C406DD-8662-298A-5FF4-770BAF187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Key Components of EDA</a:t>
            </a:r>
            <a:endParaRPr lang="en-ZM" sz="3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4694-A223-8DEE-2BD4-C6D8BD80D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5536306" cy="591324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1. Descriptive Statistics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Summarize and describe key features of a dataset.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Examples: Mean, Median, Mode, Variance, Standard Deviation.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2. Measures of Central Tendency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Show where the center of the data lies.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Mean → average value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Median → middle value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Mode → most frequent value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3. Measures of Spread (Dispersion)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Show how data values vary around the center.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Range, Variance, Standard Deviation, Interquartile Range (IQR)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4. Data Visualization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Graphical exploration to identify patterns and outliers.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Examples: Histograms, Boxplots, Scatterplots, Pair plots.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b="1" dirty="0"/>
              <a:t>5. Relationships and Correlations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Identify how variables relate to each other.</a:t>
            </a:r>
          </a:p>
          <a:p>
            <a:pPr>
              <a:lnSpc>
                <a:spcPct val="90000"/>
              </a:lnSpc>
            </a:pPr>
            <a:endParaRPr lang="en-ZM" sz="1400" dirty="0"/>
          </a:p>
        </p:txBody>
      </p:sp>
    </p:spTree>
    <p:extLst>
      <p:ext uri="{BB962C8B-B14F-4D97-AF65-F5344CB8AC3E}">
        <p14:creationId xmlns:p14="http://schemas.microsoft.com/office/powerpoint/2010/main" val="176137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Descriptive Statistic</a:t>
            </a:r>
            <a:r>
              <a:rPr lang="en-US" dirty="0"/>
              <a:t>s: Understanding your data</a:t>
            </a:r>
            <a:endParaRPr lang="en-ZM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6C6F01-EB1F-2FD7-39FF-6DF9F4B1D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3930" y="2969469"/>
            <a:ext cx="6056111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Definition:</a:t>
            </a: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Descriptive statistics summarize and describe the main features of a dataset.</a:t>
            </a:r>
            <a:endParaRPr kumimoji="0" lang="en-US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ZM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Purpose:</a:t>
            </a:r>
            <a:endParaRPr kumimoji="0" lang="en-ZM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Simplify complex datasets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Highlight patterns and trends</a:t>
            </a:r>
          </a:p>
          <a:p>
            <a:pPr marL="400050" lvl="1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Prepare data for further analysis (EDA &amp; modeling)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ZM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47B31-2692-9908-CBF1-B4C4B504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anchor="b">
            <a:normAutofit/>
          </a:bodyPr>
          <a:lstStyle/>
          <a:p>
            <a:r>
              <a:rPr lang="en-US" sz="4700"/>
              <a:t>What is a Distribution?</a:t>
            </a:r>
            <a:endParaRPr lang="en-ZM" sz="470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0A70F4-7200-8ABA-D406-19F66EEE35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0060" y="2706624"/>
            <a:ext cx="5170932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Definition:</a:t>
            </a: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 distribution shows how the values of a variable are spread or arranged.</a:t>
            </a:r>
            <a:endParaRPr kumimoji="0" lang="en-US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ZM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Concepts:</a:t>
            </a:r>
            <a:endParaRPr kumimoji="0" lang="en-ZM" altLang="en-ZM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Frequency:</a:t>
            </a: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How often each value occurs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Shape:</a:t>
            </a: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Symmetry, skewness, and peakedness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Spread:</a:t>
            </a: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Range of values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9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Example:</a:t>
            </a:r>
            <a:r>
              <a:rPr kumimoji="0" lang="en-ZM" altLang="en-ZM" sz="19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Age distribution of students in a class</a:t>
            </a:r>
          </a:p>
        </p:txBody>
      </p:sp>
      <p:pic>
        <p:nvPicPr>
          <p:cNvPr id="12" name="Picture 11" descr="A graph of age and frequency">
            <a:extLst>
              <a:ext uri="{FF2B5EF4-FFF2-40B4-BE49-F238E27FC236}">
                <a16:creationId xmlns:a16="http://schemas.microsoft.com/office/drawing/2014/main" id="{2970ACFD-1FB8-7B6F-C1C9-6C2560DCF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449069"/>
            <a:ext cx="3010662" cy="3190196"/>
          </a:xfrm>
          <a:prstGeom prst="rect">
            <a:avLst/>
          </a:prstGeom>
        </p:spPr>
      </p:pic>
      <p:pic>
        <p:nvPicPr>
          <p:cNvPr id="13" name="Picture 12" descr="A diagram of a number of different types of data">
            <a:extLst>
              <a:ext uri="{FF2B5EF4-FFF2-40B4-BE49-F238E27FC236}">
                <a16:creationId xmlns:a16="http://schemas.microsoft.com/office/drawing/2014/main" id="{DDE74918-C7FD-FF54-5FC5-C8CBD4874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4425585"/>
            <a:ext cx="2996946" cy="148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8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1AA1-3556-1875-B69E-EB8A6195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Tendency</a:t>
            </a:r>
            <a:endParaRPr lang="en-ZM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E45099-9AE0-644E-0BB0-BC94A8149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424344"/>
              </p:ext>
            </p:extLst>
          </p:nvPr>
        </p:nvGraphicFramePr>
        <p:xfrm>
          <a:off x="457200" y="16002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170722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8475677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065846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Statistic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Tells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in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675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df['Age'].mean()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891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Median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Middle value (50th percentile)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df['Age'].median()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968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Most frequent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Courier New" panose="02070309020205020404" pitchFamily="49" charset="0"/>
                        </a:rPr>
                        <a:t>df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['Age'].mode()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474609"/>
                  </a:ext>
                </a:extLst>
              </a:tr>
            </a:tbl>
          </a:graphicData>
        </a:graphic>
      </p:graphicFrame>
      <p:pic>
        <p:nvPicPr>
          <p:cNvPr id="6" name="Picture 5" descr="A diagram of a graph">
            <a:extLst>
              <a:ext uri="{FF2B5EF4-FFF2-40B4-BE49-F238E27FC236}">
                <a16:creationId xmlns:a16="http://schemas.microsoft.com/office/drawing/2014/main" id="{C1F2B531-4FFC-8F19-5000-798AB5FA9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9" y="3746090"/>
            <a:ext cx="4419907" cy="23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9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F2E2428-58BA-458D-AA54-05502E63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61161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D897E-F7D5-20AD-712F-DAE5C248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600"/>
            <a:ext cx="5160770" cy="13228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Understanding Asymmetry in a Distribution</a:t>
            </a:r>
            <a:endParaRPr lang="en-ZM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F6FA2-A285-DAE5-C248-6428F7DAB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85" y="1932487"/>
            <a:ext cx="5646760" cy="450764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Definition:</a:t>
            </a: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Skewness measures the </a:t>
            </a:r>
            <a:r>
              <a:rPr lang="en-US" sz="1300" b="1" dirty="0"/>
              <a:t>asymmetry of a data distribution</a:t>
            </a:r>
            <a:r>
              <a:rPr lang="en-US" sz="1300" dirty="0"/>
              <a:t> around its mean.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It tells us whether the data is </a:t>
            </a:r>
            <a:r>
              <a:rPr lang="en-US" sz="1300" b="1" dirty="0"/>
              <a:t>balanced or lopsided</a:t>
            </a:r>
            <a:r>
              <a:rPr lang="en-US" sz="1300" dirty="0"/>
              <a:t>.</a:t>
            </a:r>
          </a:p>
          <a:p>
            <a:pPr>
              <a:lnSpc>
                <a:spcPct val="90000"/>
              </a:lnSpc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Types of Skewness:</a:t>
            </a: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b="1" dirty="0"/>
              <a:t>Positive Skew (Right Skew):</a:t>
            </a:r>
            <a:endParaRPr lang="en-US" sz="1300" dirty="0"/>
          </a:p>
          <a:p>
            <a:pPr lvl="1">
              <a:lnSpc>
                <a:spcPct val="90000"/>
              </a:lnSpc>
            </a:pPr>
            <a:r>
              <a:rPr lang="en-US" sz="1300" dirty="0"/>
              <a:t>Tail stretches </a:t>
            </a:r>
            <a:r>
              <a:rPr lang="en-US" sz="1300" b="1" dirty="0"/>
              <a:t>to the right</a:t>
            </a:r>
            <a:r>
              <a:rPr lang="en-US" sz="1300" dirty="0"/>
              <a:t> (towards larger values).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Most data values are </a:t>
            </a:r>
            <a:r>
              <a:rPr lang="en-US" sz="1300" b="1" dirty="0"/>
              <a:t>smaller</a:t>
            </a:r>
            <a:r>
              <a:rPr lang="en-US" sz="1300" dirty="0"/>
              <a:t>, with a few large outliers.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Mean &gt; Median &gt; Mode</a:t>
            </a:r>
          </a:p>
          <a:p>
            <a:pPr>
              <a:lnSpc>
                <a:spcPct val="90000"/>
              </a:lnSpc>
            </a:pPr>
            <a:r>
              <a:rPr lang="en-US" sz="1300" b="1" dirty="0"/>
              <a:t>Negative Skew (Left Skew):</a:t>
            </a:r>
            <a:endParaRPr lang="en-US" sz="1300" dirty="0"/>
          </a:p>
          <a:p>
            <a:pPr lvl="1">
              <a:lnSpc>
                <a:spcPct val="90000"/>
              </a:lnSpc>
            </a:pPr>
            <a:r>
              <a:rPr lang="en-US" sz="1300" dirty="0"/>
              <a:t>Tail stretches </a:t>
            </a:r>
            <a:r>
              <a:rPr lang="en-US" sz="1300" b="1" dirty="0"/>
              <a:t>to the left</a:t>
            </a:r>
            <a:r>
              <a:rPr lang="en-US" sz="1300" dirty="0"/>
              <a:t> (towards smaller values).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Most data values are </a:t>
            </a:r>
            <a:r>
              <a:rPr lang="en-US" sz="1300" b="1" dirty="0"/>
              <a:t>larger</a:t>
            </a:r>
            <a:r>
              <a:rPr lang="en-US" sz="1300" dirty="0"/>
              <a:t>, with a few small outliers.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Mean &lt; Median &lt; Mode</a:t>
            </a:r>
          </a:p>
          <a:p>
            <a:pPr>
              <a:lnSpc>
                <a:spcPct val="90000"/>
              </a:lnSpc>
            </a:pPr>
            <a:r>
              <a:rPr lang="en-US" sz="1300" b="1" dirty="0"/>
              <a:t>Zero Skew (Symmetrical):</a:t>
            </a:r>
            <a:endParaRPr lang="en-US" sz="1300" dirty="0"/>
          </a:p>
          <a:p>
            <a:pPr lvl="1">
              <a:lnSpc>
                <a:spcPct val="90000"/>
              </a:lnSpc>
            </a:pPr>
            <a:r>
              <a:rPr lang="en-US" sz="1300" dirty="0"/>
              <a:t>Data is </a:t>
            </a:r>
            <a:r>
              <a:rPr lang="en-US" sz="1300" b="1" dirty="0"/>
              <a:t>balanced</a:t>
            </a:r>
            <a:r>
              <a:rPr lang="en-US" sz="1300" dirty="0"/>
              <a:t> around the mean.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Mean ≈ Median ≈ Mode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Example: Normal distribution</a:t>
            </a:r>
          </a:p>
          <a:p>
            <a:pPr>
              <a:lnSpc>
                <a:spcPct val="90000"/>
              </a:lnSpc>
            </a:pPr>
            <a:endParaRPr lang="en-ZM" sz="1300" dirty="0"/>
          </a:p>
        </p:txBody>
      </p:sp>
      <p:pic>
        <p:nvPicPr>
          <p:cNvPr id="4" name="Picture 6" descr="Visualizing samples with box plots | Nature Methods">
            <a:extLst>
              <a:ext uri="{FF2B5EF4-FFF2-40B4-BE49-F238E27FC236}">
                <a16:creationId xmlns:a16="http://schemas.microsoft.com/office/drawing/2014/main" id="{2C503254-A72C-E418-7411-974F4D84E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6985" y="1241463"/>
            <a:ext cx="2180230" cy="4404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130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7AB6F-54E7-D64D-EC67-797AF376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39578"/>
            <a:ext cx="4485959" cy="12498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dirty="0"/>
              <a:t>Measures of Spread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A9923-16B1-593B-52EB-953308C1CCFB}"/>
              </a:ext>
            </a:extLst>
          </p:cNvPr>
          <p:cNvSpPr txBox="1"/>
          <p:nvPr/>
        </p:nvSpPr>
        <p:spPr>
          <a:xfrm>
            <a:off x="628650" y="2113936"/>
            <a:ext cx="4485959" cy="398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1. Variance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Definition:</a:t>
            </a:r>
            <a:r>
              <a:rPr lang="en-US" sz="1700" dirty="0"/>
              <a:t> Variance measures the </a:t>
            </a:r>
            <a:r>
              <a:rPr lang="en-US" sz="1700" b="1" dirty="0"/>
              <a:t>average squared deviation</a:t>
            </a:r>
            <a:r>
              <a:rPr lang="en-US" sz="1700" dirty="0"/>
              <a:t> of each data point from the mean.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Purpose:</a:t>
            </a:r>
            <a:r>
              <a:rPr lang="en-US" sz="1700" dirty="0"/>
              <a:t> Shows how much the data </a:t>
            </a:r>
            <a:r>
              <a:rPr lang="en-US" sz="1700" b="1" dirty="0"/>
              <a:t>varies or spreads out</a:t>
            </a:r>
            <a:r>
              <a:rPr lang="en-US" sz="1700" dirty="0"/>
              <a:t> from the mean.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Key Points:</a:t>
            </a:r>
            <a:endParaRPr lang="en-US" sz="1700" dirty="0"/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High variance → data points are widely spread.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variance → data points are close to the mean.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4107" name="Picture 11" descr="Variance Calculator (with Steps) - Inch ...">
            <a:extLst>
              <a:ext uri="{FF2B5EF4-FFF2-40B4-BE49-F238E27FC236}">
                <a16:creationId xmlns:a16="http://schemas.microsoft.com/office/drawing/2014/main" id="{D90EE465-C313-A42D-F0D0-DF3CF4A06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2540" y="3374018"/>
            <a:ext cx="3608155" cy="240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7B4053-88DF-D824-023C-781E46F8898E}"/>
              </a:ext>
            </a:extLst>
          </p:cNvPr>
          <p:cNvSpPr txBox="1"/>
          <p:nvPr/>
        </p:nvSpPr>
        <p:spPr>
          <a:xfrm>
            <a:off x="4114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ZM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89C92-93C7-F125-7BE2-DE5441FEC9C0}"/>
              </a:ext>
            </a:extLst>
          </p:cNvPr>
          <p:cNvSpPr txBox="1"/>
          <p:nvPr/>
        </p:nvSpPr>
        <p:spPr>
          <a:xfrm>
            <a:off x="786581" y="5771535"/>
            <a:ext cx="568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ZM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5B3483-98EA-004C-D4BA-E3CF562C5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727300"/>
              </p:ext>
            </p:extLst>
          </p:nvPr>
        </p:nvGraphicFramePr>
        <p:xfrm>
          <a:off x="5322939" y="675234"/>
          <a:ext cx="3608157" cy="2067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498">
                  <a:extLst>
                    <a:ext uri="{9D8B030D-6E8A-4147-A177-3AD203B41FA5}">
                      <a16:colId xmlns:a16="http://schemas.microsoft.com/office/drawing/2014/main" val="2351828055"/>
                    </a:ext>
                  </a:extLst>
                </a:gridCol>
                <a:gridCol w="1157230">
                  <a:extLst>
                    <a:ext uri="{9D8B030D-6E8A-4147-A177-3AD203B41FA5}">
                      <a16:colId xmlns:a16="http://schemas.microsoft.com/office/drawing/2014/main" val="10171816"/>
                    </a:ext>
                  </a:extLst>
                </a:gridCol>
                <a:gridCol w="1562429">
                  <a:extLst>
                    <a:ext uri="{9D8B030D-6E8A-4147-A177-3AD203B41FA5}">
                      <a16:colId xmlns:a16="http://schemas.microsoft.com/office/drawing/2014/main" val="2461747243"/>
                    </a:ext>
                  </a:extLst>
                </a:gridCol>
              </a:tblGrid>
              <a:tr h="447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Statistic</a:t>
                      </a:r>
                    </a:p>
                  </a:txBody>
                  <a:tcPr marL="60465" marR="60465" marT="30232" marB="30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What it Tells Us</a:t>
                      </a:r>
                    </a:p>
                  </a:txBody>
                  <a:tcPr marL="60465" marR="60465" marT="30232" marB="30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Example in Python</a:t>
                      </a:r>
                    </a:p>
                  </a:txBody>
                  <a:tcPr marL="60465" marR="60465" marT="30232" marB="30232" anchor="ctr"/>
                </a:tc>
                <a:extLst>
                  <a:ext uri="{0D108BD9-81ED-4DB2-BD59-A6C34878D82A}">
                    <a16:rowId xmlns:a16="http://schemas.microsoft.com/office/drawing/2014/main" val="3091146994"/>
                  </a:ext>
                </a:extLst>
              </a:tr>
              <a:tr h="81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Variance</a:t>
                      </a:r>
                      <a:endParaRPr lang="en-US" sz="1200"/>
                    </a:p>
                  </a:txBody>
                  <a:tcPr marL="60465" marR="60465" marT="30232" marB="30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Average squared deviation from the mean</a:t>
                      </a:r>
                    </a:p>
                  </a:txBody>
                  <a:tcPr marL="60465" marR="60465" marT="30232" marB="30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df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['Age'].var()</a:t>
                      </a:r>
                      <a:endParaRPr lang="en-US" sz="1200" dirty="0"/>
                    </a:p>
                  </a:txBody>
                  <a:tcPr marL="60465" marR="60465" marT="30232" marB="30232" anchor="ctr"/>
                </a:tc>
                <a:extLst>
                  <a:ext uri="{0D108BD9-81ED-4DB2-BD59-A6C34878D82A}">
                    <a16:rowId xmlns:a16="http://schemas.microsoft.com/office/drawing/2014/main" val="1982630212"/>
                  </a:ext>
                </a:extLst>
              </a:tr>
              <a:tr h="810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Standard Deviation</a:t>
                      </a:r>
                      <a:endParaRPr lang="en-US" sz="1200"/>
                    </a:p>
                  </a:txBody>
                  <a:tcPr marL="60465" marR="60465" marT="30232" marB="30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Square root of variance; in same units as data</a:t>
                      </a:r>
                    </a:p>
                  </a:txBody>
                  <a:tcPr marL="60465" marR="60465" marT="30232" marB="3023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df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['Age'].std()</a:t>
                      </a:r>
                      <a:endParaRPr lang="en-US" sz="1200" dirty="0"/>
                    </a:p>
                  </a:txBody>
                  <a:tcPr marL="60465" marR="60465" marT="30232" marB="30232" anchor="ctr"/>
                </a:tc>
                <a:extLst>
                  <a:ext uri="{0D108BD9-81ED-4DB2-BD59-A6C34878D82A}">
                    <a16:rowId xmlns:a16="http://schemas.microsoft.com/office/drawing/2014/main" val="2728428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03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8E225-926C-E064-8FF9-B43A1677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858E-889F-927B-315B-9FC9EABEC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 dataset</a:t>
            </a:r>
          </a:p>
          <a:p>
            <a:pPr marL="0" indent="0">
              <a:buNone/>
            </a:pPr>
            <a:r>
              <a:rPr lang="en-US" dirty="0"/>
              <a:t>ages = [18, 20, 20, 21, 25]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Variance</a:t>
            </a:r>
          </a:p>
          <a:p>
            <a:pPr marL="0" indent="0">
              <a:buNone/>
            </a:pPr>
            <a:r>
              <a:rPr lang="en-US" dirty="0"/>
              <a:t>variance = </a:t>
            </a:r>
            <a:r>
              <a:rPr lang="en-US" dirty="0" err="1"/>
              <a:t>pd.Series</a:t>
            </a:r>
            <a:r>
              <a:rPr lang="en-US" dirty="0"/>
              <a:t>(ages).var()</a:t>
            </a:r>
          </a:p>
          <a:p>
            <a:pPr marL="0" indent="0">
              <a:buNone/>
            </a:pPr>
            <a:r>
              <a:rPr lang="en-US" dirty="0"/>
              <a:t># Standard deviation</a:t>
            </a:r>
          </a:p>
          <a:p>
            <a:pPr marL="0" indent="0">
              <a:buNone/>
            </a:pPr>
            <a:r>
              <a:rPr lang="en-US" dirty="0" err="1"/>
              <a:t>std_dev</a:t>
            </a:r>
            <a:r>
              <a:rPr lang="en-US" dirty="0"/>
              <a:t> = </a:t>
            </a:r>
            <a:r>
              <a:rPr lang="en-US" dirty="0" err="1"/>
              <a:t>pd.Series</a:t>
            </a:r>
            <a:r>
              <a:rPr lang="en-US" dirty="0"/>
              <a:t>(ages).std()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print("Variance:", variance)</a:t>
            </a:r>
          </a:p>
          <a:p>
            <a:pPr marL="0" indent="0">
              <a:buNone/>
            </a:pPr>
            <a:r>
              <a:rPr lang="en-US" dirty="0"/>
              <a:t>print("Standard Deviation:", </a:t>
            </a:r>
            <a:r>
              <a:rPr lang="en-US" dirty="0" err="1"/>
              <a:t>std_dev</a:t>
            </a:r>
            <a:r>
              <a:rPr lang="en-US" dirty="0"/>
              <a:t>)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05634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2" name="Rectangle 616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4" name="Freeform: Shape 616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3D1413-8582-5F41-6AEE-F53FA563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5" y="609600"/>
            <a:ext cx="3588597" cy="1330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Measures of Spread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E31C8-277A-B004-860E-6416B4015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775" y="2194102"/>
            <a:ext cx="3328527" cy="390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2. Standard Deviation (SD)</a:t>
            </a:r>
            <a:endParaRPr lang="en-US" sz="1700" dirty="0"/>
          </a:p>
          <a:p>
            <a:r>
              <a:rPr lang="en-US" sz="1700" b="1" dirty="0"/>
              <a:t>Definition:</a:t>
            </a:r>
            <a:r>
              <a:rPr lang="en-US" sz="1700" dirty="0"/>
              <a:t> Standard deviation is the </a:t>
            </a:r>
            <a:r>
              <a:rPr lang="en-US" sz="1700" b="1" dirty="0"/>
              <a:t>square root of variance</a:t>
            </a:r>
            <a:r>
              <a:rPr lang="en-US" sz="1700" dirty="0"/>
              <a:t>, giving spread in the </a:t>
            </a:r>
            <a:r>
              <a:rPr lang="en-US" sz="1700" b="1" dirty="0"/>
              <a:t>same units as the data</a:t>
            </a:r>
            <a:r>
              <a:rPr lang="en-US" sz="1700" dirty="0"/>
              <a:t>.</a:t>
            </a:r>
          </a:p>
          <a:p>
            <a:r>
              <a:rPr lang="en-US" sz="1700" b="1" dirty="0"/>
              <a:t>Purpose:</a:t>
            </a:r>
            <a:r>
              <a:rPr lang="en-US" sz="1700" dirty="0"/>
              <a:t> Makes variance easier to interpret.</a:t>
            </a:r>
          </a:p>
          <a:p>
            <a:r>
              <a:rPr lang="en-US" sz="1700" b="1" dirty="0"/>
              <a:t>Key Points:</a:t>
            </a:r>
            <a:endParaRPr lang="en-US" sz="1700" dirty="0"/>
          </a:p>
          <a:p>
            <a:pPr lvl="1"/>
            <a:r>
              <a:rPr lang="en-US" sz="1700" dirty="0"/>
              <a:t>High SD → wide spread of values</a:t>
            </a:r>
          </a:p>
          <a:p>
            <a:pPr lvl="1"/>
            <a:r>
              <a:rPr lang="en-US" sz="1700" dirty="0"/>
              <a:t>Low SD → values are clustered around the mean</a:t>
            </a:r>
          </a:p>
          <a:p>
            <a:pPr lvl="1"/>
            <a:r>
              <a:rPr lang="en-US" sz="1700" dirty="0"/>
              <a:t>Formula:</a:t>
            </a:r>
          </a:p>
          <a:p>
            <a:endParaRPr lang="en-ZM" sz="1700" dirty="0"/>
          </a:p>
        </p:txBody>
      </p:sp>
      <p:pic>
        <p:nvPicPr>
          <p:cNvPr id="6150" name="Picture 6" descr="Standard Deviation Calculator (with ...">
            <a:extLst>
              <a:ext uri="{FF2B5EF4-FFF2-40B4-BE49-F238E27FC236}">
                <a16:creationId xmlns:a16="http://schemas.microsoft.com/office/drawing/2014/main" id="{20E593D9-1FBF-3A8A-DF9E-AA3EBF8F7D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85"/>
          <a:stretch>
            <a:fillRect/>
          </a:stretch>
        </p:blipFill>
        <p:spPr bwMode="auto">
          <a:xfrm>
            <a:off x="5160457" y="2471660"/>
            <a:ext cx="3553238" cy="193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411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0AD18-085D-C4FC-BB1A-362FEFFB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E969B-9701-A83D-8EC2-4F4F0F584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 dataset</a:t>
            </a:r>
          </a:p>
          <a:p>
            <a:pPr marL="0" indent="0">
              <a:buNone/>
            </a:pPr>
            <a:r>
              <a:rPr lang="en-US" dirty="0"/>
              <a:t>ages = [18, 20, 20, 21, 25]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Convert to Pandas Series</a:t>
            </a:r>
          </a:p>
          <a:p>
            <a:pPr marL="0" indent="0">
              <a:buNone/>
            </a:pPr>
            <a:r>
              <a:rPr lang="en-US" dirty="0" err="1"/>
              <a:t>age_series</a:t>
            </a:r>
            <a:r>
              <a:rPr lang="en-US" dirty="0"/>
              <a:t> = </a:t>
            </a:r>
            <a:r>
              <a:rPr lang="en-US" dirty="0" err="1"/>
              <a:t>pd.Series</a:t>
            </a:r>
            <a:r>
              <a:rPr lang="en-US" dirty="0"/>
              <a:t>(ages)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Calculate standard deviation</a:t>
            </a:r>
          </a:p>
          <a:p>
            <a:pPr marL="0" indent="0">
              <a:buNone/>
            </a:pPr>
            <a:r>
              <a:rPr lang="en-US" dirty="0" err="1"/>
              <a:t>std_dev</a:t>
            </a:r>
            <a:r>
              <a:rPr lang="en-US" dirty="0"/>
              <a:t> = </a:t>
            </a:r>
            <a:r>
              <a:rPr lang="en-US" dirty="0" err="1"/>
              <a:t>age_series.std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print("Standard Deviation:", </a:t>
            </a:r>
            <a:r>
              <a:rPr lang="en-US" dirty="0" err="1"/>
              <a:t>std_dev</a:t>
            </a:r>
            <a:r>
              <a:rPr lang="en-US" dirty="0"/>
              <a:t>)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78042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623E-9772-EC06-F2D3-20DC6FF4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vs Standard Deviation</a:t>
            </a:r>
            <a:endParaRPr lang="en-ZM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F613E8-B2C2-B053-906E-003A9FFFC4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Variance vs Standard Deviation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Definition Recap:</a:t>
                </a:r>
                <a:endParaRPr lang="en-US" dirty="0"/>
              </a:p>
              <a:p>
                <a:r>
                  <a:rPr lang="en-US" b="1" dirty="0"/>
                  <a:t>Variance:</a:t>
                </a:r>
                <a:r>
                  <a:rPr lang="en-US" dirty="0"/>
                  <a:t> Measures the </a:t>
                </a:r>
                <a:r>
                  <a:rPr lang="en-US" b="1" dirty="0"/>
                  <a:t>average squared deviation</a:t>
                </a:r>
                <a:r>
                  <a:rPr lang="en-US" dirty="0"/>
                  <a:t> of data points from the mean.</a:t>
                </a:r>
              </a:p>
              <a:p>
                <a:r>
                  <a:rPr lang="en-US" b="1" dirty="0"/>
                  <a:t>Standard Deviation (SD):</a:t>
                </a:r>
                <a:r>
                  <a:rPr lang="en-US" dirty="0"/>
                  <a:t> The </a:t>
                </a:r>
                <a:r>
                  <a:rPr lang="en-US" b="1" dirty="0"/>
                  <a:t>square root of variance</a:t>
                </a:r>
                <a:r>
                  <a:rPr lang="en-US" dirty="0"/>
                  <a:t>, giving spread in the </a:t>
                </a:r>
                <a:r>
                  <a:rPr lang="en-US" b="1" dirty="0"/>
                  <a:t>same units as the data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Key Relationship: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SD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i="1"/>
                            <m:t>Variance</m:t>
                          </m:r>
                        </m:e>
                      </m:ra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ar-AE" b="0" dirty="0"/>
              </a:p>
              <a:p>
                <a:r>
                  <a:rPr lang="en-US" dirty="0"/>
                  <a:t>Variance is in </a:t>
                </a:r>
                <a:r>
                  <a:rPr lang="en-US" b="1" dirty="0"/>
                  <a:t>squared units</a:t>
                </a:r>
                <a:r>
                  <a:rPr lang="en-US" dirty="0"/>
                  <a:t> (e.g., years² if measuring age).</a:t>
                </a:r>
              </a:p>
              <a:p>
                <a:r>
                  <a:rPr lang="en-US" dirty="0"/>
                  <a:t>SD is in the </a:t>
                </a:r>
                <a:r>
                  <a:rPr lang="en-US" b="1" dirty="0"/>
                  <a:t>original units</a:t>
                </a:r>
                <a:r>
                  <a:rPr lang="en-US" dirty="0"/>
                  <a:t> (e.g., years), making it easier to interpret.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3. Intuition:</a:t>
                </a:r>
                <a:endParaRPr lang="en-US" dirty="0"/>
              </a:p>
              <a:p>
                <a:r>
                  <a:rPr lang="en-US" dirty="0"/>
                  <a:t>High variance → SD will also be high</a:t>
                </a:r>
              </a:p>
              <a:p>
                <a:r>
                  <a:rPr lang="en-US" dirty="0"/>
                  <a:t>Low variance → SD will also be low</a:t>
                </a:r>
              </a:p>
              <a:p>
                <a:r>
                  <a:rPr lang="en-US" dirty="0"/>
                  <a:t>SD is just a </a:t>
                </a:r>
                <a:r>
                  <a:rPr lang="en-US" b="1" dirty="0"/>
                  <a:t>rescaled version of variance</a:t>
                </a:r>
                <a:r>
                  <a:rPr lang="en-US" dirty="0"/>
                  <a:t> that is more interpretable.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“Variance tells us </a:t>
                </a:r>
                <a:r>
                  <a:rPr lang="en-US" b="1" dirty="0"/>
                  <a:t>how spread out data is in squared terms</a:t>
                </a:r>
                <a:r>
                  <a:rPr lang="en-US" dirty="0"/>
                  <a:t>, SD tells us </a:t>
                </a:r>
                <a:r>
                  <a:rPr lang="en-US" b="1" dirty="0"/>
                  <a:t>how spread out data is in the original units</a:t>
                </a:r>
                <a:r>
                  <a:rPr lang="en-US" dirty="0"/>
                  <a:t>, which is usually more intuitive.”</a:t>
                </a:r>
              </a:p>
              <a:p>
                <a:endParaRPr lang="en-ZM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F613E8-B2C2-B053-906E-003A9FFFC4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296" t="-1044"/>
                </a:stretch>
              </a:blipFill>
            </p:spPr>
            <p:txBody>
              <a:bodyPr/>
              <a:lstStyle/>
              <a:p>
                <a:r>
                  <a:rPr lang="en-ZM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900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215F-3E46-29E0-47B1-3C9F5CA19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 and Variance</a:t>
            </a:r>
            <a:endParaRPr lang="en-ZM" dirty="0"/>
          </a:p>
        </p:txBody>
      </p:sp>
      <p:pic>
        <p:nvPicPr>
          <p:cNvPr id="7170" name="Picture 2" descr="High variance and Low variance in data | by Tiya Vaj | Medium">
            <a:extLst>
              <a:ext uri="{FF2B5EF4-FFF2-40B4-BE49-F238E27FC236}">
                <a16:creationId xmlns:a16="http://schemas.microsoft.com/office/drawing/2014/main" id="{EDC87827-FC6B-44DE-F747-A15D6BA3E9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2" y="1600200"/>
            <a:ext cx="705785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80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Data in Pandas: Useful Functions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34A665-F714-1934-7695-FE71017E09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50" y="1459668"/>
            <a:ext cx="908889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is a powerful Python library for data manipulation and analysis.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analysis, we need to understand the dataset’s structure, content, and quality.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functions help us explore data quickly and efficiently.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5BCF20-D3CC-DC3F-37F5-EFD8B05BE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53580"/>
              </p:ext>
            </p:extLst>
          </p:nvPr>
        </p:nvGraphicFramePr>
        <p:xfrm>
          <a:off x="55102" y="2425028"/>
          <a:ext cx="90337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1265">
                  <a:extLst>
                    <a:ext uri="{9D8B030D-6E8A-4147-A177-3AD203B41FA5}">
                      <a16:colId xmlns:a16="http://schemas.microsoft.com/office/drawing/2014/main" val="916208435"/>
                    </a:ext>
                  </a:extLst>
                </a:gridCol>
                <a:gridCol w="3011265">
                  <a:extLst>
                    <a:ext uri="{9D8B030D-6E8A-4147-A177-3AD203B41FA5}">
                      <a16:colId xmlns:a16="http://schemas.microsoft.com/office/drawing/2014/main" val="2907598451"/>
                    </a:ext>
                  </a:extLst>
                </a:gridCol>
                <a:gridCol w="3011265">
                  <a:extLst>
                    <a:ext uri="{9D8B030D-6E8A-4147-A177-3AD203B41FA5}">
                      <a16:colId xmlns:a16="http://schemas.microsoft.com/office/drawing/2014/main" val="155500252"/>
                    </a:ext>
                  </a:extLst>
                </a:gridCol>
              </a:tblGrid>
              <a:tr h="353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/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002409"/>
                  </a:ext>
                </a:extLst>
              </a:tr>
              <a:tr h="8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df.info()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Shows dataset summary: column names, types, non-null 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Gives a quick overview of dataset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04213"/>
                  </a:ext>
                </a:extLst>
              </a:tr>
              <a:tr h="8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df.describe()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Summarizes numeric columns: count, mean, std, min, quartiles, 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Quick summary statistics for numeric variables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493720"/>
                  </a:ext>
                </a:extLst>
              </a:tr>
              <a:tr h="8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df.value_counts()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Counts occurrences of unique values in a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df['Sex'].value_counts()</a:t>
                      </a:r>
                      <a:r>
                        <a:rPr lang="en-US"/>
                        <a:t> → {'Male': 50, 'Female': 45}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507548"/>
                  </a:ext>
                </a:extLst>
              </a:tr>
              <a:tr h="621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df.isnull().sum()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Counts missing values in each 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Identifies where data cleaning may be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06522"/>
                  </a:ext>
                </a:extLst>
              </a:tr>
              <a:tr h="621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df.groupby('Sex')['Age'].mean()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Aggregates data: calculates mean Age by Sex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Output: Male → 28.5, Female → 27.8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6020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555" y="489509"/>
            <a:ext cx="7490992" cy="765134"/>
          </a:xfrm>
        </p:spPr>
        <p:txBody>
          <a:bodyPr anchor="b">
            <a:normAutofit/>
          </a:bodyPr>
          <a:lstStyle/>
          <a:p>
            <a:r>
              <a:rPr lang="en-US" sz="3500"/>
              <a:t> Correlation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6A235-E829-E00D-9A88-DEC4EEF4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00"/>
          <a:stretch>
            <a:fillRect/>
          </a:stretch>
        </p:blipFill>
        <p:spPr>
          <a:xfrm>
            <a:off x="801098" y="2122981"/>
            <a:ext cx="772064" cy="349123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4110355-2099-9DB1-8ACD-A6B9B45DA6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8026" y="1744151"/>
            <a:ext cx="7225522" cy="423386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Correlation analysis helps us measure the strength and direction of relationships between numeric variables.</a:t>
            </a:r>
            <a:endParaRPr kumimoji="0" lang="en-US" altLang="en-ZM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endParaRPr kumimoji="0" lang="en-ZM" altLang="en-ZM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is a key step in EDA to understand how variables interact before modelling.</a:t>
            </a:r>
            <a:endParaRPr kumimoji="0" lang="en-US" altLang="en-ZM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kumimoji="0" lang="en-ZM" altLang="en-ZM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is Correlation? </a:t>
            </a:r>
            <a:endParaRPr kumimoji="0" lang="en-US" altLang="en-ZM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Definition: Correlation quantifies the linear relationship between two variables.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Range: -1 to +1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+1 → perfect positive correlation (as one increases, the other increases)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-1 → perfect negative correlation (as one increases, the other decreases)</a:t>
            </a:r>
          </a:p>
          <a:p>
            <a:pPr lvl="1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0 → no linear correlation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Case: Helps identify predictor variables and potential multicollinearity.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4585-6BE5-FA1B-DB8C-0DF08D33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 and Seaborn for Correlation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54AB-4989-C820-5822-52B15BF38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Using Pandas: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Compute correlation matrix</a:t>
            </a:r>
          </a:p>
          <a:p>
            <a:pPr marL="0" indent="0">
              <a:buNone/>
            </a:pPr>
            <a:r>
              <a:rPr lang="en-US" dirty="0" err="1"/>
              <a:t>corr_matrix</a:t>
            </a:r>
            <a:r>
              <a:rPr lang="en-US" dirty="0"/>
              <a:t> = </a:t>
            </a:r>
            <a:r>
              <a:rPr lang="en-US" dirty="0" err="1"/>
              <a:t>df.corr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corr_matrix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2. Visualizing with Seaborn Heatmap: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sns.heatmap</a:t>
            </a:r>
            <a:r>
              <a:rPr lang="en-US" dirty="0"/>
              <a:t>(</a:t>
            </a:r>
            <a:r>
              <a:rPr lang="en-US" dirty="0" err="1"/>
              <a:t>df.corr</a:t>
            </a:r>
            <a:r>
              <a:rPr lang="en-US" dirty="0"/>
              <a:t>(), </a:t>
            </a:r>
            <a:r>
              <a:rPr lang="en-US" dirty="0" err="1"/>
              <a:t>annot</a:t>
            </a:r>
            <a:r>
              <a:rPr lang="en-US" dirty="0"/>
              <a:t>=True, </a:t>
            </a:r>
            <a:r>
              <a:rPr lang="en-US" dirty="0" err="1"/>
              <a:t>cmap</a:t>
            </a:r>
            <a:r>
              <a:rPr lang="en-US" dirty="0"/>
              <a:t>='</a:t>
            </a:r>
            <a:r>
              <a:rPr lang="en-US" dirty="0" err="1"/>
              <a:t>coolwarm</a:t>
            </a:r>
            <a:r>
              <a:rPr lang="en-US" dirty="0"/>
              <a:t>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3984257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D3B4A-3779-5F37-98EB-D4B9E672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Distributions: Histograms and Boxplots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19B4C9-37FC-DCD1-57C8-8AE3A952AE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3124518"/>
            <a:ext cx="8229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are a key part of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us understand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data is distributed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patterns or outliers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common ways to visualize numeric data: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Histograms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Boxplots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2103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Histogram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A histogram displays the </a:t>
            </a:r>
            <a:r>
              <a:rPr lang="en-US" b="1" dirty="0"/>
              <a:t>frequency distribution</a:t>
            </a:r>
            <a:r>
              <a:rPr lang="en-US" dirty="0"/>
              <a:t> of a numeric variable by grouping values into bins.</a:t>
            </a:r>
          </a:p>
          <a:p>
            <a:r>
              <a:rPr lang="en-US" b="1" dirty="0"/>
              <a:t>KDE (Kernel Density Estimate)</a:t>
            </a:r>
            <a:r>
              <a:rPr lang="en-US" dirty="0"/>
              <a:t> shows a smooth estimate of the distribution.</a:t>
            </a:r>
          </a:p>
          <a:p>
            <a:pPr marL="0" indent="0">
              <a:buNone/>
            </a:pPr>
            <a:r>
              <a:rPr lang="en-US" b="1" dirty="0"/>
              <a:t>Python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['Age'], bins=20,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("Histogram of Age")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("Age")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("Frequency")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Shows </a:t>
            </a:r>
            <a:r>
              <a:rPr lang="en-US" b="1" dirty="0"/>
              <a:t>where most data points are concentrated</a:t>
            </a:r>
            <a:r>
              <a:rPr lang="en-US" dirty="0"/>
              <a:t>.</a:t>
            </a:r>
          </a:p>
          <a:p>
            <a:r>
              <a:rPr lang="en-US" dirty="0"/>
              <a:t>Reveals </a:t>
            </a:r>
            <a:r>
              <a:rPr lang="en-US" b="1" dirty="0"/>
              <a:t>skewness</a:t>
            </a:r>
            <a:r>
              <a:rPr lang="en-US" dirty="0"/>
              <a:t> and potential </a:t>
            </a:r>
            <a:r>
              <a:rPr lang="en-US" b="1" dirty="0"/>
              <a:t>outliers</a:t>
            </a:r>
            <a:r>
              <a:rPr lang="en-US" dirty="0"/>
              <a:t>.</a:t>
            </a:r>
          </a:p>
          <a:p>
            <a:r>
              <a:rPr lang="en-US" dirty="0"/>
              <a:t>Helps decide whether to </a:t>
            </a:r>
            <a:r>
              <a:rPr lang="en-US" b="1" dirty="0"/>
              <a:t>transform</a:t>
            </a:r>
            <a:r>
              <a:rPr lang="en-US" dirty="0"/>
              <a:t> variables (e.g., log-transform skewed data).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0A1D-BAC6-DB8A-03FD-685B8C8E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9F2A-0422-4784-9AAD-5166953BA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Boxplot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C47C-CBB1-49F0-E60E-5E2B29AA2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endParaRPr lang="en-US" dirty="0"/>
          </a:p>
          <a:p>
            <a:r>
              <a:rPr lang="en-US" dirty="0"/>
              <a:t>A boxplot (or whisker plot) shows </a:t>
            </a:r>
            <a:r>
              <a:rPr lang="en-US" b="1" dirty="0"/>
              <a:t>median, quartiles, range, and outliers</a:t>
            </a:r>
            <a:r>
              <a:rPr lang="en-US" dirty="0"/>
              <a:t>.</a:t>
            </a:r>
          </a:p>
          <a:p>
            <a:r>
              <a:rPr lang="en-US" dirty="0"/>
              <a:t>Useful for </a:t>
            </a:r>
            <a:r>
              <a:rPr lang="en-US" b="1" dirty="0"/>
              <a:t>comparing distributions across groups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Python Example: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sns.boxplot</a:t>
            </a:r>
            <a:r>
              <a:rPr lang="en-US" dirty="0"/>
              <a:t>(x='Survived', y='Age', data=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("Boxplot of Age by Survival")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Box → interquartile range (IQR)</a:t>
            </a:r>
          </a:p>
          <a:p>
            <a:r>
              <a:rPr lang="en-US" dirty="0"/>
              <a:t>Line inside box → median</a:t>
            </a:r>
          </a:p>
          <a:p>
            <a:r>
              <a:rPr lang="en-US" dirty="0"/>
              <a:t>Whiskers → range of typical data</a:t>
            </a:r>
          </a:p>
          <a:p>
            <a:r>
              <a:rPr lang="en-US" dirty="0"/>
              <a:t>Dots outside whiskers → outliers</a:t>
            </a:r>
          </a:p>
          <a:p>
            <a:r>
              <a:rPr lang="en-US" dirty="0"/>
              <a:t>Helps </a:t>
            </a:r>
            <a:r>
              <a:rPr lang="en-US" b="1" dirty="0"/>
              <a:t>compare distributions between categories</a:t>
            </a:r>
            <a:r>
              <a:rPr lang="en-US" dirty="0"/>
              <a:t> (e.g., Survived = 0 vs 1)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7886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Scatter and Pair Plots: Visualizing Relationships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D38E07-AE15-1094-707B-638C6909B8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3124518"/>
            <a:ext cx="8686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Beyond distributions, we often want to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relationships between two or more variables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 plots and pair plots are powerful tools for this purpose.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4E62E-BAA1-170C-2E06-E2D5328E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7246"/>
          </a:xfrm>
        </p:spPr>
        <p:txBody>
          <a:bodyPr/>
          <a:lstStyle/>
          <a:p>
            <a:r>
              <a:rPr lang="en-US" dirty="0"/>
              <a:t>1. Scatter Plot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452687-BD40-2C64-1FCD-85D8D922AF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5974" y="1206041"/>
            <a:ext cx="79248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scatter plot shows the relationship between two numeric variables.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a hue allows us to distinguish groups (e.g., categorical outcomes).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seaborn as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matplotlib.pyplot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</a:t>
            </a: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sns.scatterplot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(x='Age', y='Fare', hue='Survived', data=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plt.title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("Scatter Plot of Age vs Fare by Survival")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plt.xlabel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("Age")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plt.ylabel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("Fare")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plt.show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ZM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Pattern: Do higher fares correlate with 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differences: Are survivors clustered differently from non-survivors?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Outliers: Spot unusual points that may affect analysis.</a:t>
            </a:r>
          </a:p>
        </p:txBody>
      </p:sp>
    </p:spTree>
    <p:extLst>
      <p:ext uri="{BB962C8B-B14F-4D97-AF65-F5344CB8AC3E}">
        <p14:creationId xmlns:p14="http://schemas.microsoft.com/office/powerpoint/2010/main" val="3405824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43E5-54CF-3983-D40D-E99407CC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Pair Plot (Scatterplot Matrix)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D00AF9-4B10-3829-D08A-06568D5B2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39525"/>
            <a:ext cx="82296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pair plot shows scatter plots for every combination of selected numeric variables.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 includes histograms or KDE on the diagonal.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Color-coded by a categorical variable to compare groups.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Example:</a:t>
            </a:r>
            <a:endParaRPr kumimoji="0" lang="en-US" altLang="en-ZM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M" altLang="en-ZM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sns.pairplot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df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[['</a:t>
            </a: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Age','Fare','Survived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']], hue='Survived’)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plt.show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() 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Quickly observe relationships between multiple variables.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linear or non-linear trends, clusters, and potential correlations.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Diagonal plots show variable distributions for each group.</a:t>
            </a:r>
          </a:p>
        </p:txBody>
      </p:sp>
    </p:spTree>
    <p:extLst>
      <p:ext uri="{BB962C8B-B14F-4D97-AF65-F5344CB8AC3E}">
        <p14:creationId xmlns:p14="http://schemas.microsoft.com/office/powerpoint/2010/main" val="3206262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Grouping and Aggregation in Pandas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Often in EDA, we want to </a:t>
            </a:r>
            <a:r>
              <a:rPr lang="en-US" b="1" dirty="0"/>
              <a:t>summarize numeric data by categories</a:t>
            </a:r>
            <a:r>
              <a:rPr lang="en-US" dirty="0"/>
              <a:t>.</a:t>
            </a:r>
          </a:p>
          <a:p>
            <a:r>
              <a:rPr lang="en-US" dirty="0"/>
              <a:t>Grouping and aggregation help us </a:t>
            </a:r>
            <a:r>
              <a:rPr lang="en-US" b="1" dirty="0"/>
              <a:t>compute statistics for subsets of data</a:t>
            </a:r>
            <a:r>
              <a:rPr lang="en-US" dirty="0"/>
              <a:t>, such as averages, counts, or sums.</a:t>
            </a:r>
          </a:p>
          <a:p>
            <a:r>
              <a:rPr lang="en-US" dirty="0"/>
              <a:t>This is key for </a:t>
            </a:r>
            <a:r>
              <a:rPr lang="en-US" b="1" dirty="0"/>
              <a:t>comparing patterns across groups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1. Basic Grouping</a:t>
            </a:r>
          </a:p>
          <a:p>
            <a:pPr marL="0" indent="0">
              <a:buNone/>
            </a:pPr>
            <a:r>
              <a:rPr lang="en-US" b="1" dirty="0"/>
              <a:t>Python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Mean Fare by Passenger Class</a:t>
            </a:r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('</a:t>
            </a:r>
            <a:r>
              <a:rPr lang="en-US" dirty="0" err="1"/>
              <a:t>Pclass</a:t>
            </a:r>
            <a:r>
              <a:rPr lang="en-US" dirty="0"/>
              <a:t>')['Fare'].mean()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Groups data by </a:t>
            </a:r>
            <a:r>
              <a:rPr lang="en-US" b="1" dirty="0"/>
              <a:t>Passenger Class</a:t>
            </a:r>
            <a:r>
              <a:rPr lang="en-US" dirty="0"/>
              <a:t> (</a:t>
            </a:r>
            <a:r>
              <a:rPr lang="en-US" dirty="0" err="1"/>
              <a:t>Pclass</a:t>
            </a:r>
            <a:r>
              <a:rPr lang="en-US" dirty="0"/>
              <a:t>) and calculates the </a:t>
            </a:r>
            <a:r>
              <a:rPr lang="en-US" b="1" dirty="0"/>
              <a:t>average fare</a:t>
            </a:r>
            <a:r>
              <a:rPr lang="en-US" dirty="0"/>
              <a:t> for each class.</a:t>
            </a:r>
          </a:p>
          <a:p>
            <a:r>
              <a:rPr lang="en-US" dirty="0"/>
              <a:t>Useful for </a:t>
            </a:r>
            <a:r>
              <a:rPr lang="en-US" b="1" dirty="0"/>
              <a:t>understanding differences between categories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Example Output:</a:t>
            </a:r>
          </a:p>
          <a:p>
            <a:pPr marL="0" indent="0">
              <a:buNone/>
            </a:pPr>
            <a:r>
              <a:rPr lang="en-US" dirty="0" err="1"/>
              <a:t>Pclass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1    87.5</a:t>
            </a:r>
          </a:p>
          <a:p>
            <a:pPr marL="0" indent="0">
              <a:buNone/>
            </a:pPr>
            <a:r>
              <a:rPr lang="en-US" dirty="0"/>
              <a:t>2    21.0</a:t>
            </a:r>
          </a:p>
          <a:p>
            <a:pPr marL="514350" indent="-514350">
              <a:buAutoNum type="arabicPlain" startAt="3"/>
            </a:pPr>
            <a:r>
              <a:rPr lang="en-US" dirty="0"/>
              <a:t>13.0</a:t>
            </a:r>
          </a:p>
          <a:p>
            <a:pPr marL="514350" indent="-514350">
              <a:buAutoNum type="arabicPlain" startAt="3"/>
            </a:pPr>
            <a:endParaRPr lang="en-US" dirty="0"/>
          </a:p>
          <a:p>
            <a:r>
              <a:rPr lang="en-US" dirty="0"/>
              <a:t>Shows that </a:t>
            </a:r>
            <a:r>
              <a:rPr lang="en-US" b="1" dirty="0"/>
              <a:t>first-class passengers paid higher fares</a:t>
            </a:r>
            <a:r>
              <a:rPr lang="en-US" dirty="0"/>
              <a:t> on average.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45D6-1111-C500-1AB5-D1905817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Grouping by Multiple Columns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3C5D3-7FFA-A8AB-AD36-D3EF37C5D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Python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Mean survival rate by Sex and </a:t>
            </a:r>
            <a:r>
              <a:rPr lang="en-US" dirty="0" err="1"/>
              <a:t>Pclass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df.groupby</a:t>
            </a:r>
            <a:r>
              <a:rPr lang="en-US" dirty="0"/>
              <a:t>(['Sex','</a:t>
            </a:r>
            <a:r>
              <a:rPr lang="en-US" dirty="0" err="1"/>
              <a:t>Pclass</a:t>
            </a:r>
            <a:r>
              <a:rPr lang="en-US" dirty="0"/>
              <a:t>'])['Survived'].mean()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Interpretation:</a:t>
            </a:r>
            <a:endParaRPr lang="en-US" dirty="0"/>
          </a:p>
          <a:p>
            <a:r>
              <a:rPr lang="en-US" dirty="0"/>
              <a:t>Groups data by </a:t>
            </a:r>
            <a:r>
              <a:rPr lang="en-US" b="1" dirty="0"/>
              <a:t>Sex</a:t>
            </a:r>
            <a:r>
              <a:rPr lang="en-US" dirty="0"/>
              <a:t> and </a:t>
            </a:r>
            <a:r>
              <a:rPr lang="en-US" b="1" dirty="0"/>
              <a:t>Passenger Class</a:t>
            </a:r>
            <a:r>
              <a:rPr lang="en-US" dirty="0"/>
              <a:t>, then calculates the </a:t>
            </a:r>
            <a:r>
              <a:rPr lang="en-US" b="1" dirty="0"/>
              <a:t>average survival rate</a:t>
            </a:r>
            <a:r>
              <a:rPr lang="en-US" dirty="0"/>
              <a:t>.</a:t>
            </a:r>
          </a:p>
          <a:p>
            <a:r>
              <a:rPr lang="en-US" dirty="0"/>
              <a:t>Reveals </a:t>
            </a:r>
            <a:r>
              <a:rPr lang="en-US" b="1" dirty="0"/>
              <a:t>interaction effects</a:t>
            </a:r>
            <a:r>
              <a:rPr lang="en-US" dirty="0"/>
              <a:t> between categories.</a:t>
            </a:r>
          </a:p>
          <a:p>
            <a:r>
              <a:rPr lang="en-US" dirty="0"/>
              <a:t>Example Output:</a:t>
            </a:r>
          </a:p>
          <a:p>
            <a:pPr marL="0" indent="0">
              <a:buNone/>
            </a:pPr>
            <a:r>
              <a:rPr lang="en-US" dirty="0"/>
              <a:t>Sex     </a:t>
            </a:r>
            <a:r>
              <a:rPr lang="en-US" dirty="0" err="1"/>
              <a:t>Pclass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female  1         0.97</a:t>
            </a:r>
          </a:p>
          <a:p>
            <a:pPr marL="0" indent="0">
              <a:buNone/>
            </a:pPr>
            <a:r>
              <a:rPr lang="en-US" dirty="0"/>
              <a:t>        2         0.92</a:t>
            </a:r>
          </a:p>
          <a:p>
            <a:pPr marL="0" indent="0">
              <a:buNone/>
            </a:pPr>
            <a:r>
              <a:rPr lang="en-US" dirty="0"/>
              <a:t>        3         0.50</a:t>
            </a:r>
          </a:p>
          <a:p>
            <a:pPr marL="0" indent="0">
              <a:buNone/>
            </a:pPr>
            <a:r>
              <a:rPr lang="en-US" dirty="0"/>
              <a:t>male    1         0.36</a:t>
            </a:r>
          </a:p>
          <a:p>
            <a:pPr marL="0" indent="0">
              <a:buNone/>
            </a:pPr>
            <a:r>
              <a:rPr lang="en-US" dirty="0"/>
              <a:t>        2         0.16</a:t>
            </a:r>
          </a:p>
          <a:p>
            <a:pPr marL="0" indent="0">
              <a:buNone/>
            </a:pPr>
            <a:r>
              <a:rPr lang="en-US" dirty="0"/>
              <a:t>        3         0.13</a:t>
            </a:r>
          </a:p>
          <a:p>
            <a:r>
              <a:rPr lang="en-US" dirty="0"/>
              <a:t>Shows </a:t>
            </a:r>
            <a:r>
              <a:rPr lang="en-US" b="1" dirty="0"/>
              <a:t>females had higher survival rates</a:t>
            </a:r>
            <a:r>
              <a:rPr lang="en-US" dirty="0"/>
              <a:t>, especially in higher classes.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4066672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Probability and Normal Distribution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01BB41-1645-750E-5EC3-36AC90251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31857"/>
            <a:ext cx="762491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is the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likelihood of an event occurring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statistical methods assume that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follows a normal distribution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(bell-shaped curve).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distributions helps in </a:t>
            </a:r>
            <a:r>
              <a:rPr kumimoji="0" lang="en-ZM" altLang="en-ZM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modeling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hypothesis testing, and inference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D1778-40D9-7D1B-FE03-59A79EBCD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a Normal Distribution?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0F50C4-298B-7B0A-2138-3E704A6725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693630"/>
            <a:ext cx="812636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symmetric, bell-shaped distribution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where most values cluster around the mean.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Characteristics:</a:t>
            </a: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 = Median = Mode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</a:t>
            </a:r>
            <a:r>
              <a:rPr kumimoji="0" lang="en-ZM" altLang="en-ZM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68% of data</a:t>
            </a: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lies within 1 standard deviation of the mean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</a:t>
            </a:r>
            <a:r>
              <a:rPr kumimoji="0" lang="en-ZM" altLang="en-ZM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95% of data</a:t>
            </a: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lies within 2 standard deviations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</a:t>
            </a:r>
            <a:r>
              <a:rPr kumimoji="0" lang="en-ZM" altLang="en-ZM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99.7% of data</a:t>
            </a:r>
            <a:r>
              <a:rPr kumimoji="0" lang="en-ZM" altLang="en-ZM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lies within 3 standard deviations (Empirical Rule)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053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C7E7-7FA1-0C99-6709-12238115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Python Example: Simulating Normal Data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45D6B-B369-D0DA-E0C6-29CF19982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643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Generate random normal data</a:t>
            </a:r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np.random.normal</a:t>
            </a:r>
            <a:r>
              <a:rPr lang="en-US" dirty="0"/>
              <a:t>(0, 1, 1000)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Plot histogram with KDE</a:t>
            </a:r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(data,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("Histogram of Normally Distributed Data")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("Value")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("Frequency")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Explanation: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np.random.normal</a:t>
            </a:r>
            <a:r>
              <a:rPr lang="en-US" dirty="0"/>
              <a:t>(mean, std, size) generates synthetic normally distributed data.</a:t>
            </a:r>
          </a:p>
          <a:p>
            <a:r>
              <a:rPr lang="en-US" dirty="0"/>
              <a:t>Histogram with KDE visualizes the bell-shaped distribution.</a:t>
            </a:r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188028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929E-0F53-31A0-DC96-9323DA27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Interpretation</a:t>
            </a:r>
            <a:endParaRPr lang="en-ZM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D9851A-BAF9-CA18-EAA6-C8BE9522B6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570521"/>
            <a:ext cx="82296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“Normal distributions are fundamental in statistics for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probability calculations and inferential methods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“Many statistical tests (t-test, ANOVA, regression) assume </a:t>
            </a:r>
            <a:r>
              <a:rPr kumimoji="0" lang="en-ZM" altLang="en-ZM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normally distributed residuals</a:t>
            </a: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“Visual inspection with histograms or KDE helps verify this assumption.”</a:t>
            </a:r>
            <a:endParaRPr kumimoji="0" lang="en-US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ZM" altLang="en-ZM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ZM" altLang="en-ZM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“Real data may not be perfectly normal; small deviations are often acceptable.”</a:t>
            </a:r>
          </a:p>
        </p:txBody>
      </p:sp>
    </p:spTree>
    <p:extLst>
      <p:ext uri="{BB962C8B-B14F-4D97-AF65-F5344CB8AC3E}">
        <p14:creationId xmlns:p14="http://schemas.microsoft.com/office/powerpoint/2010/main" val="1198945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Project 1: Titanic Dataset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Load dataset: </a:t>
            </a:r>
            <a:r>
              <a:rPr dirty="0" err="1"/>
              <a:t>sns.load_dataset</a:t>
            </a:r>
            <a:r>
              <a:rPr dirty="0"/>
              <a:t>('titanic')</a:t>
            </a:r>
          </a:p>
          <a:p>
            <a:r>
              <a:rPr dirty="0"/>
              <a:t>2. Explore survival by Sex, Age, </a:t>
            </a:r>
            <a:r>
              <a:rPr dirty="0" err="1"/>
              <a:t>Pclass</a:t>
            </a:r>
            <a:endParaRPr dirty="0"/>
          </a:p>
          <a:p>
            <a:r>
              <a:rPr dirty="0"/>
              <a:t>3. Visualize relationships using Seaborn plots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8530-2A8E-5947-3078-4841D567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895B3-B74B-1F98-703B-F74D938DE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605912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# Step 1: Import libraries</a:t>
            </a:r>
          </a:p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Step 2: Load dataset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sns.load_dataset</a:t>
            </a:r>
            <a:r>
              <a:rPr lang="en-US" dirty="0"/>
              <a:t>('titanic')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Quick look at the dataset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df.head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print(df.info())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Step 3: Explore survival by Sex, Age, and </a:t>
            </a:r>
            <a:r>
              <a:rPr lang="en-US" dirty="0" err="1"/>
              <a:t>Pclass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Survival counts by Sex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df.groupby</a:t>
            </a:r>
            <a:r>
              <a:rPr lang="en-US" dirty="0"/>
              <a:t>('sex')['survived'].</a:t>
            </a:r>
            <a:r>
              <a:rPr lang="en-US" dirty="0" err="1"/>
              <a:t>value_counts</a:t>
            </a:r>
            <a:r>
              <a:rPr lang="en-US" dirty="0"/>
              <a:t>(normalize=True))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Survival rate by </a:t>
            </a:r>
            <a:r>
              <a:rPr lang="en-US" dirty="0" err="1"/>
              <a:t>Pclass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df.groupby</a:t>
            </a:r>
            <a:r>
              <a:rPr lang="en-US" dirty="0"/>
              <a:t>('</a:t>
            </a:r>
            <a:r>
              <a:rPr lang="en-US" dirty="0" err="1"/>
              <a:t>pclass</a:t>
            </a:r>
            <a:r>
              <a:rPr lang="en-US" dirty="0"/>
              <a:t>')['survived'].mean())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Survival rate by Sex and </a:t>
            </a:r>
            <a:r>
              <a:rPr lang="en-US" dirty="0" err="1"/>
              <a:t>Pclass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df.groupby</a:t>
            </a:r>
            <a:r>
              <a:rPr lang="en-US" dirty="0"/>
              <a:t>(['sex','</a:t>
            </a:r>
            <a:r>
              <a:rPr lang="en-US" dirty="0" err="1"/>
              <a:t>pclass</a:t>
            </a:r>
            <a:r>
              <a:rPr lang="en-US" dirty="0"/>
              <a:t>'])['survived'].mean())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Step 4: Visualizations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4a: Bar plot - Survival by Sex</a:t>
            </a:r>
          </a:p>
          <a:p>
            <a:pPr marL="0" indent="0">
              <a:buNone/>
            </a:pPr>
            <a:r>
              <a:rPr lang="en-US" dirty="0" err="1"/>
              <a:t>sns.countplot</a:t>
            </a:r>
            <a:r>
              <a:rPr lang="en-US" dirty="0"/>
              <a:t>(x='sex', hue='survived', data=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("Survival Counts by Sex")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4b: Boxplot - Age distribution by Survival</a:t>
            </a:r>
          </a:p>
          <a:p>
            <a:pPr marL="0" indent="0">
              <a:buNone/>
            </a:pPr>
            <a:r>
              <a:rPr lang="en-US" dirty="0" err="1"/>
              <a:t>sns.boxplot</a:t>
            </a:r>
            <a:r>
              <a:rPr lang="en-US" dirty="0"/>
              <a:t>(x='survived', y='age', data=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("Age Distribution by Survival")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4c: Histogram - Age distribution</a:t>
            </a:r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['age'], bins=20, </a:t>
            </a:r>
            <a:r>
              <a:rPr lang="en-US" dirty="0" err="1"/>
              <a:t>kde</a:t>
            </a:r>
            <a:r>
              <a:rPr lang="en-US" dirty="0"/>
              <a:t>=True)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("Histogram of Age")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4d: Scatter plot - Age vs Fare colored by Survival</a:t>
            </a:r>
          </a:p>
          <a:p>
            <a:pPr marL="0" indent="0">
              <a:buNone/>
            </a:pPr>
            <a:r>
              <a:rPr lang="en-US" dirty="0" err="1"/>
              <a:t>sns.scatterplot</a:t>
            </a:r>
            <a:r>
              <a:rPr lang="en-US" dirty="0"/>
              <a:t>(x='age', y='fare', hue='survived', data=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("Age vs Fare by Survival")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4e: Pair plot - Age, Fare, Survival</a:t>
            </a:r>
          </a:p>
          <a:p>
            <a:pPr marL="0" indent="0">
              <a:buNone/>
            </a:pPr>
            <a:r>
              <a:rPr lang="en-US" dirty="0" err="1"/>
              <a:t>sns.pairplot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</a:t>
            </a:r>
            <a:r>
              <a:rPr lang="en-US" dirty="0" err="1"/>
              <a:t>age','fare','survived</a:t>
            </a:r>
            <a:r>
              <a:rPr lang="en-US" dirty="0"/>
              <a:t>']], hue='survived')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ZM" dirty="0"/>
          </a:p>
        </p:txBody>
      </p:sp>
    </p:spTree>
    <p:extLst>
      <p:ext uri="{BB962C8B-B14F-4D97-AF65-F5344CB8AC3E}">
        <p14:creationId xmlns:p14="http://schemas.microsoft.com/office/powerpoint/2010/main" val="2502361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0265"/>
          </a:xfrm>
        </p:spPr>
        <p:txBody>
          <a:bodyPr>
            <a:normAutofit fontScale="90000"/>
          </a:bodyPr>
          <a:lstStyle/>
          <a:p>
            <a:r>
              <a:rPr dirty="0"/>
              <a:t>10.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981" y="1111046"/>
            <a:ext cx="8711380" cy="574695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1. Purpose of EDA:</a:t>
            </a:r>
            <a:endParaRPr lang="en-US" dirty="0"/>
          </a:p>
          <a:p>
            <a:r>
              <a:rPr lang="en-US" dirty="0"/>
              <a:t>Understand your data before modeling.</a:t>
            </a:r>
          </a:p>
          <a:p>
            <a:r>
              <a:rPr lang="en-US" dirty="0"/>
              <a:t>Detect errors, missing values, outliers, and unusual patterns.</a:t>
            </a:r>
          </a:p>
          <a:p>
            <a:r>
              <a:rPr lang="en-US" dirty="0"/>
              <a:t>Inform data cleaning, feature selection, and transformations.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Key Tools and Techniques:</a:t>
            </a:r>
            <a:endParaRPr lang="en-US" dirty="0"/>
          </a:p>
          <a:p>
            <a:r>
              <a:rPr lang="en-US" b="1" dirty="0"/>
              <a:t>Descriptive Statistics:</a:t>
            </a:r>
            <a:r>
              <a:rPr lang="en-US" dirty="0"/>
              <a:t> Mean, Median, Mode, Variance, Standard Deviation, Skewness.</a:t>
            </a:r>
          </a:p>
          <a:p>
            <a:r>
              <a:rPr lang="en-US" b="1" dirty="0"/>
              <a:t>Data Exploration in Pandas:</a:t>
            </a:r>
            <a:r>
              <a:rPr lang="en-US" dirty="0"/>
              <a:t> df.info(), </a:t>
            </a:r>
            <a:r>
              <a:rPr lang="en-US" dirty="0" err="1"/>
              <a:t>df.describe</a:t>
            </a:r>
            <a:r>
              <a:rPr lang="en-US" dirty="0"/>
              <a:t>(), </a:t>
            </a:r>
            <a:r>
              <a:rPr lang="en-US" dirty="0" err="1"/>
              <a:t>value_counts</a:t>
            </a:r>
            <a:r>
              <a:rPr lang="en-US" dirty="0"/>
              <a:t>(), </a:t>
            </a:r>
            <a:r>
              <a:rPr lang="en-US" dirty="0" err="1"/>
              <a:t>isnull</a:t>
            </a:r>
            <a:r>
              <a:rPr lang="en-US" dirty="0"/>
              <a:t>().sum(), </a:t>
            </a:r>
            <a:r>
              <a:rPr lang="en-US" dirty="0" err="1"/>
              <a:t>groupby</a:t>
            </a:r>
            <a:r>
              <a:rPr lang="en-US" dirty="0"/>
              <a:t>().</a:t>
            </a:r>
          </a:p>
          <a:p>
            <a:r>
              <a:rPr lang="en-US" b="1" dirty="0"/>
              <a:t>Visualizations:</a:t>
            </a:r>
            <a:endParaRPr lang="en-US" dirty="0"/>
          </a:p>
          <a:p>
            <a:pPr lvl="1"/>
            <a:r>
              <a:rPr lang="en-US" dirty="0"/>
              <a:t>Histograms &amp; KDE → distributions</a:t>
            </a:r>
          </a:p>
          <a:p>
            <a:pPr lvl="1"/>
            <a:r>
              <a:rPr lang="en-US" dirty="0"/>
              <a:t>Boxplots → spread &amp; outliers</a:t>
            </a:r>
          </a:p>
          <a:p>
            <a:pPr lvl="1"/>
            <a:r>
              <a:rPr lang="en-US" dirty="0"/>
              <a:t>Scatter &amp; Pair plots → relationships</a:t>
            </a:r>
          </a:p>
          <a:p>
            <a:pPr lvl="1"/>
            <a:r>
              <a:rPr lang="en-US" dirty="0"/>
              <a:t>Heatmaps → correlations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3. Practical Insights:</a:t>
            </a:r>
            <a:endParaRPr lang="en-US" dirty="0"/>
          </a:p>
          <a:p>
            <a:r>
              <a:rPr lang="en-US" dirty="0"/>
              <a:t>Patterns and relationships help </a:t>
            </a:r>
            <a:r>
              <a:rPr lang="en-US" b="1" dirty="0"/>
              <a:t>generate hypotheses</a:t>
            </a:r>
            <a:r>
              <a:rPr lang="en-US" dirty="0"/>
              <a:t>.</a:t>
            </a:r>
          </a:p>
          <a:p>
            <a:r>
              <a:rPr lang="en-US" dirty="0"/>
              <a:t>Visualizations make data </a:t>
            </a:r>
            <a:r>
              <a:rPr lang="en-US" b="1" dirty="0"/>
              <a:t>intuitive and interpretable</a:t>
            </a:r>
            <a:r>
              <a:rPr lang="en-US" dirty="0"/>
              <a:t>.</a:t>
            </a:r>
          </a:p>
          <a:p>
            <a:r>
              <a:rPr lang="en-US" dirty="0"/>
              <a:t>EDA is </a:t>
            </a:r>
            <a:r>
              <a:rPr lang="en-US" b="1" dirty="0"/>
              <a:t>iterative</a:t>
            </a:r>
            <a:r>
              <a:rPr lang="en-US" dirty="0"/>
              <a:t>: explore → clean → visualize → summarize → repeat.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4. Next Steps:</a:t>
            </a:r>
            <a:endParaRPr lang="en-US" dirty="0"/>
          </a:p>
          <a:p>
            <a:r>
              <a:rPr lang="en-US" dirty="0"/>
              <a:t>Use insights from EDA to </a:t>
            </a:r>
            <a:r>
              <a:rPr lang="en-US" b="1" dirty="0"/>
              <a:t>prepare for modeling or reporting</a:t>
            </a:r>
            <a:r>
              <a:rPr lang="en-US" dirty="0"/>
              <a:t>.</a:t>
            </a:r>
          </a:p>
          <a:p>
            <a:r>
              <a:rPr lang="en-US" dirty="0"/>
              <a:t>Always document findings to </a:t>
            </a:r>
            <a:r>
              <a:rPr lang="en-US" b="1" dirty="0"/>
              <a:t>support decision-making</a:t>
            </a:r>
            <a:r>
              <a:rPr lang="en-US" dirty="0"/>
              <a:t>.</a:t>
            </a:r>
          </a:p>
          <a:p>
            <a:r>
              <a:rPr lang="en-US" b="1" dirty="0"/>
              <a:t>Visual Suggestion:</a:t>
            </a:r>
            <a:endParaRPr lang="en-US" dirty="0"/>
          </a:p>
          <a:p>
            <a:r>
              <a:rPr lang="en-US" dirty="0"/>
              <a:t>A flow diagram:</a:t>
            </a:r>
          </a:p>
          <a:p>
            <a:r>
              <a:rPr lang="en-US" dirty="0"/>
              <a:t>Raw Data → EDA (Summary Stats + Visuals) → Cleaned Data → Modeling / Insights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3256</Words>
  <Application>Microsoft Office PowerPoint</Application>
  <PresentationFormat>On-screen Show (4:3)</PresentationFormat>
  <Paragraphs>477</Paragraphs>
  <Slides>35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Cambria Math</vt:lpstr>
      <vt:lpstr>Courier New</vt:lpstr>
      <vt:lpstr>Office Theme</vt:lpstr>
      <vt:lpstr>Week 7: Exploratory Data Analysis (EDA) and Basic Statistical Concepts</vt:lpstr>
      <vt:lpstr>1. What is Exploratory Data Analysis (EDA)?</vt:lpstr>
      <vt:lpstr>What is EDA continued…</vt:lpstr>
      <vt:lpstr>What is EDA continued</vt:lpstr>
      <vt:lpstr>What is EDA continued</vt:lpstr>
      <vt:lpstr>Why EDA is Important </vt:lpstr>
      <vt:lpstr>Key Components of EDA</vt:lpstr>
      <vt:lpstr>Descriptive Statistics: Understanding your data</vt:lpstr>
      <vt:lpstr>What is a Distribution?</vt:lpstr>
      <vt:lpstr>Measures of Central Tendency</vt:lpstr>
      <vt:lpstr>Understanding Asymmetry in a Distribution</vt:lpstr>
      <vt:lpstr>Measures of Spread</vt:lpstr>
      <vt:lpstr>variance</vt:lpstr>
      <vt:lpstr>Measures of Spread</vt:lpstr>
      <vt:lpstr>SD</vt:lpstr>
      <vt:lpstr>Variance vs Standard Deviation</vt:lpstr>
      <vt:lpstr>SD and Variance</vt:lpstr>
      <vt:lpstr>Exploring Data in Pandas: Useful Functions</vt:lpstr>
      <vt:lpstr> Correlation Analysis</vt:lpstr>
      <vt:lpstr>Pandas and Seaborn for Correlation</vt:lpstr>
      <vt:lpstr>Visualizing Distributions: Histograms and Boxplots</vt:lpstr>
      <vt:lpstr>1. Histogram </vt:lpstr>
      <vt:lpstr>2. Boxplot </vt:lpstr>
      <vt:lpstr>Scatter and Pair Plots: Visualizing Relationships</vt:lpstr>
      <vt:lpstr>1. Scatter Plot</vt:lpstr>
      <vt:lpstr>2. Pair Plot (Scatterplot Matrix)</vt:lpstr>
      <vt:lpstr>Grouping and Aggregation in Pandas</vt:lpstr>
      <vt:lpstr>2. Grouping by Multiple Columns</vt:lpstr>
      <vt:lpstr>Probability and Normal Distribution</vt:lpstr>
      <vt:lpstr>1. What is a Normal Distribution?</vt:lpstr>
      <vt:lpstr>2. Python Example: Simulating Normal Data</vt:lpstr>
      <vt:lpstr>3. Interpretation</vt:lpstr>
      <vt:lpstr>9. Project 1: Titanic Dataset EDA</vt:lpstr>
      <vt:lpstr>Code example</vt:lpstr>
      <vt:lpstr>10. 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Mutale CHILANDO</dc:creator>
  <cp:keywords/>
  <dc:description>generated using python-pptx</dc:description>
  <cp:lastModifiedBy>Mutale CHILANDO</cp:lastModifiedBy>
  <cp:revision>42</cp:revision>
  <dcterms:created xsi:type="dcterms:W3CDTF">2013-01-27T09:14:16Z</dcterms:created>
  <dcterms:modified xsi:type="dcterms:W3CDTF">2025-11-03T16:53:17Z</dcterms:modified>
  <cp:category/>
</cp:coreProperties>
</file>